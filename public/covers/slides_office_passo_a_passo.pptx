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2B5797">
              <a:alpha val="9000"/>
            </a:srgbClr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EA4335">
              <a:alpha val="8000"/>
            </a:srgbClr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D6F42">
              <a:alpha val="7000"/>
            </a:srgbClr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3474720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NAS FERRAMENTAS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PASSO A PASSO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66928" y="20848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Excel · Outlook · Gmail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542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prático com prompts prontos para aplicar hoje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2011680" cy="141732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3630168"/>
            <a:ext cx="731520" cy="731520"/>
          </a:xfrm>
          <a:prstGeom prst="ellipse">
            <a:avLst/>
          </a:prstGeom>
          <a:solidFill>
            <a:srgbClr val="2B5797">
              <a:alpha val="17000"/>
            </a:srgbClr>
          </a:solidFill>
          <a:ln w="19050">
            <a:solidFill>
              <a:srgbClr val="2B579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675888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44074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60320" y="3520440"/>
            <a:ext cx="2011680" cy="141732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3630168"/>
            <a:ext cx="731520" cy="731520"/>
          </a:xfrm>
          <a:prstGeom prst="ellipse">
            <a:avLst/>
          </a:prstGeom>
          <a:solidFill>
            <a:srgbClr val="1D6F42">
              <a:alpha val="17000"/>
            </a:srgbClr>
          </a:solidFill>
          <a:ln w="19050">
            <a:solidFill>
              <a:srgbClr val="1D6F4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675888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44074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754880" y="3520440"/>
            <a:ext cx="2011680" cy="141732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94960" y="3630168"/>
            <a:ext cx="731520" cy="731520"/>
          </a:xfrm>
          <a:prstGeom prst="ellipse">
            <a:avLst/>
          </a:prstGeom>
          <a:solidFill>
            <a:srgbClr val="0072C6">
              <a:alpha val="17000"/>
            </a:srgbClr>
          </a:solidFill>
          <a:ln w="19050">
            <a:solidFill>
              <a:srgbClr val="0072C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675888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44074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949440" y="3520440"/>
            <a:ext cx="2011680" cy="141732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89520" y="3630168"/>
            <a:ext cx="731520" cy="731520"/>
          </a:xfrm>
          <a:prstGeom prst="ellipse">
            <a:avLst/>
          </a:prstGeom>
          <a:solidFill>
            <a:srgbClr val="EA4335">
              <a:alpha val="17000"/>
            </a:srgbClr>
          </a:solidFill>
          <a:ln w="19050">
            <a:solidFill>
              <a:srgbClr val="EA433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675888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49440" y="44074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Gmail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5029200" cy="5029200"/>
          </a:xfrm>
          <a:prstGeom prst="ellipse">
            <a:avLst/>
          </a:prstGeom>
          <a:solidFill>
            <a:srgbClr val="2B5797">
              <a:alpha val="11000"/>
            </a:srgbClr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2011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217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65760" y="1938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documentos · Revisar textos · Gerar atas · Sumarizar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788920"/>
            <a:ext cx="475488" cy="475488"/>
          </a:xfrm>
          <a:prstGeom prst="ellipse">
            <a:avLst/>
          </a:prstGeom>
          <a:solidFill>
            <a:srgbClr val="2B5797">
              <a:alpha val="18000"/>
            </a:srgbClr>
          </a:solidFill>
          <a:ln w="19050">
            <a:solidFill>
              <a:srgbClr val="2B579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3464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Redigir do Zero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96312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80944" y="2788920"/>
            <a:ext cx="475488" cy="475488"/>
          </a:xfrm>
          <a:prstGeom prst="ellipse">
            <a:avLst/>
          </a:prstGeom>
          <a:solidFill>
            <a:srgbClr val="00C2D4">
              <a:alpha val="18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83464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96312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Revisão Inteligente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672584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57216" y="2788920"/>
            <a:ext cx="475488" cy="475488"/>
          </a:xfrm>
          <a:prstGeom prst="ellipse">
            <a:avLst/>
          </a:prstGeom>
          <a:solidFill>
            <a:srgbClr val="00D49A">
              <a:alpha val="18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83464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72584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Gerar Ata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48856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33488" y="2788920"/>
            <a:ext cx="475488" cy="475488"/>
          </a:xfrm>
          <a:prstGeom prst="ellipse">
            <a:avLst/>
          </a:prstGeom>
          <a:solidFill>
            <a:srgbClr val="F5A623">
              <a:alpha val="18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83464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8856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Sumarizar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383280" cy="256032"/>
          </a:xfrm>
          <a:prstGeom prst="roundRect">
            <a:avLst>
              <a:gd name="adj" fmla="val 14286"/>
            </a:avLst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— REDIGIR DOCUMENTO DO ZERO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Redigindo com IA — Passo a Passo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1.1 · Do prompt ao documento pronto no Word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1572768" cy="132588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1536192"/>
            <a:ext cx="457200" cy="457200"/>
          </a:xfrm>
          <a:prstGeom prst="ellipse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Ctrl+N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documento em branco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47672" y="167335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1444752"/>
            <a:ext cx="1572768" cy="132588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9464" y="1536192"/>
            <a:ext cx="457200" cy="457200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20848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Abra a 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11680" y="23774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paralela ou Copilot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93592" y="167335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1444752"/>
            <a:ext cx="1572768" cy="132588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15384" y="153619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20848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Monte o prompt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0" y="23774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modelo ao lado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9512" y="167335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1444752"/>
            <a:ext cx="1572768" cy="132588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61304" y="1536192"/>
            <a:ext cx="457200" cy="45720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61304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20848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Ctrl+C / Ctrl+V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0" y="23774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e cole no Word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85432" y="167335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1444752"/>
            <a:ext cx="1572768" cy="132588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07224" y="1536192"/>
            <a:ext cx="457200" cy="457200"/>
          </a:xfrm>
          <a:prstGeom prst="ellipse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7224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208483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Estilos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49440" y="23774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Título 1, 2...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2926080"/>
            <a:ext cx="5120640" cy="1993392"/>
          </a:xfrm>
          <a:prstGeom prst="rect">
            <a:avLst/>
          </a:prstGeom>
          <a:solidFill>
            <a:srgbClr val="060D18"/>
          </a:solidFill>
          <a:ln w="19050">
            <a:solidFill>
              <a:srgbClr val="2B579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2926080"/>
            <a:ext cx="5120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" y="298094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" y="298094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" y="298094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29718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6344" y="3227832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57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um [TIPO DE DOCUMENTO] para [EMPRESA/ÁREA].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6344" y="344271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Destinado a: [PÚBLICO-ALVO].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6344" y="365760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Seções obrigatórias: [LISTAR SEÇÕES].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66344" y="3872484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Tom: [FORMAL / DIRETO / TÉCNICO].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6344" y="4087368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Extensão: aproximadamente [N] páginas.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6344" y="4302252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Inclua tabelas ou marcadores onde for útil.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66344" y="451713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Após gerar, liste os estilos de parágrafo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66344" y="473202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sugeridos para cada seção (Título 1, 2...).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23560" y="2926080"/>
            <a:ext cx="3218688" cy="1993392"/>
          </a:xfrm>
          <a:prstGeom prst="rect">
            <a:avLst/>
          </a:prstGeom>
          <a:solidFill>
            <a:srgbClr val="172438"/>
          </a:solidFill>
          <a:ln w="12700">
            <a:solidFill>
              <a:srgbClr val="2B579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23560" y="299923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RESULTADO ESPERADO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42432" y="3364992"/>
            <a:ext cx="182880" cy="18288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6752" y="3337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Documento estruturado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016752" y="3538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edição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742432" y="3794760"/>
            <a:ext cx="182880" cy="18288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16752" y="3767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Seções com títulos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016752" y="3968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formatados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742432" y="4224528"/>
            <a:ext cx="182880" cy="18288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16752" y="4197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 e extensão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016752" y="43982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pedido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742432" y="4654296"/>
            <a:ext cx="182880" cy="18288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16752" y="4626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Tabelas e listas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016752" y="48280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cabem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— REVISÃO &amp; ATA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Textos e Gerar Atas com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1.2 e 1.3 · Dois fluxos completos lado a lado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REVISÃO DE TEXTO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274320" cy="274320"/>
          </a:xfrm>
          <a:prstGeom prst="ellipse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Selecionar trecho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2121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Ctrl+A ou arrastar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274320" cy="274320"/>
          </a:xfrm>
          <a:prstGeom prst="ellipse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Copiar (Ctrl+C)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2578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274320" cy="274320"/>
          </a:xfrm>
          <a:prstGeom prst="ellipse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Colar na IA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prompt ao lado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291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Copiar resultado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IA de volta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274320" cy="274320"/>
          </a:xfrm>
          <a:prstGeom prst="ellipse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Colar no Word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" y="3950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original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87952"/>
            <a:ext cx="274320" cy="274320"/>
          </a:xfrm>
          <a:prstGeom prst="ellipse">
            <a:avLst/>
          </a:prstGeom>
          <a:solidFill>
            <a:srgbClr val="2B5797"/>
          </a:solidFill>
          <a:ln w="12700">
            <a:solidFill>
              <a:srgbClr val="2B57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Controlar Alterações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248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Revisão → aceitar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ATA DE REUNIÃO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36592" y="1828800"/>
            <a:ext cx="3977640" cy="2971800"/>
          </a:xfrm>
          <a:prstGeom prst="rect">
            <a:avLst/>
          </a:prstGeom>
          <a:solidFill>
            <a:srgbClr val="060D18"/>
          </a:solidFill>
          <a:ln w="19050">
            <a:solidFill>
              <a:srgbClr val="00C2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1828800"/>
            <a:ext cx="3977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188366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47488" y="18836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0368" y="188366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64424" y="18745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82896" y="213055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base nas anotações abaixo,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82896" y="234543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crie uma ata formal com: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82896" y="256032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 e hora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82896" y="277520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Participantes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82896" y="29900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Decisões (tópicos numerados)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82896" y="320497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Ações: tabela Responsável|Tarefa|Prazo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82896" y="341985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Próxima reunião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82896" y="363474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Anotações: [COLAR TEXTO LIVRE]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57200"/>
            <a:ext cx="5029200" cy="5029200"/>
          </a:xfrm>
          <a:prstGeom prst="ellipse">
            <a:avLst/>
          </a:prstGeom>
          <a:solidFill>
            <a:srgbClr val="1D6F42">
              <a:alpha val="11000"/>
            </a:srgbClr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2011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217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65760" y="1938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· Estrutura de Planilhas · Análise de Dados · Sumários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788920"/>
            <a:ext cx="475488" cy="475488"/>
          </a:xfrm>
          <a:prstGeom prst="ellipse">
            <a:avLst/>
          </a:prstGeom>
          <a:solidFill>
            <a:srgbClr val="1D6F42">
              <a:alpha val="18000"/>
            </a:srgbClr>
          </a:solidFill>
          <a:ln w="19050">
            <a:solidFill>
              <a:srgbClr val="1D6F4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3464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Fórmulas por IA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96312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80944" y="2788920"/>
            <a:ext cx="475488" cy="475488"/>
          </a:xfrm>
          <a:prstGeom prst="ellipse">
            <a:avLst/>
          </a:prstGeom>
          <a:solidFill>
            <a:srgbClr val="00C2D4">
              <a:alpha val="18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83464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96312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Planilha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672584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57216" y="2788920"/>
            <a:ext cx="475488" cy="475488"/>
          </a:xfrm>
          <a:prstGeom prst="ellipse">
            <a:avLst/>
          </a:prstGeom>
          <a:solidFill>
            <a:srgbClr val="F5A623">
              <a:alpha val="18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83464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72584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Dados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48856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33488" y="2788920"/>
            <a:ext cx="475488" cy="475488"/>
          </a:xfrm>
          <a:prstGeom prst="ellipse">
            <a:avLst/>
          </a:prstGeom>
          <a:solidFill>
            <a:srgbClr val="00D49A">
              <a:alpha val="18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83464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8856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Sumário Executivo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FÓRMULAS COM 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Gerando Fórmulas — Fluxo Completo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2.1 · Descreva em português, receba a fórmula pronta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1298448" cy="182880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" y="1554480"/>
            <a:ext cx="502920" cy="50292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15798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Identifique o cálculo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em português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73352" y="167335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1444752"/>
            <a:ext cx="1298448" cy="182880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35124" y="1554480"/>
            <a:ext cx="502920" cy="502920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5124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215798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Descreva a planilha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37360" y="25146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Colunas, linhas,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das abas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44952" y="167335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1444752"/>
            <a:ext cx="1298448" cy="182880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06724" y="155448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6724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215798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Peça à 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108960" y="25146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prompt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lado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16552" y="167335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1444752"/>
            <a:ext cx="1298448" cy="182880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8324" y="1554480"/>
            <a:ext cx="502920" cy="502920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8324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80560" y="215798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Copie a fórmula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80560" y="25146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trecho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começa com =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88152" y="167335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52160" y="1444752"/>
            <a:ext cx="1298448" cy="182880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49924" y="1554480"/>
            <a:ext cx="502920" cy="50292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9924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852160" y="215798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Cole na célula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852160" y="25146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Ctrl+V + Enter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59752" y="167335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23760" y="1444752"/>
            <a:ext cx="1298448" cy="182880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21524" y="1554480"/>
            <a:ext cx="502920" cy="502920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1524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23760" y="215798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Verifique / corrija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23760" y="2514600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erro: descreva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para a IA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429000"/>
            <a:ext cx="8503920" cy="475488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" y="3474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base: "Crie uma fórmula Excel para: [DESCREVER]. Minha planilha: Coluna A = [X], Coluna B = [Y]. Dados a partir da linha 2. Fórmula vai em [CÉLULA]. Explique cada parte."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108960" cy="256032"/>
          </a:xfrm>
          <a:prstGeom prst="roundRect">
            <a:avLst>
              <a:gd name="adj" fmla="val 14286"/>
            </a:avLst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FÓRMULAS MAIS PEDIDAS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6F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Pedir as Fórmulas Mais Usadas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2.2 · Linguagem natural → Fórmula pronta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3520440"/>
        </p:xfrm>
        <a:graphic>
          <a:graphicData uri="http://schemas.openxmlformats.org/drawingml/2006/table">
            <a:tbl>
              <a:tblPr/>
              <a:tblGrid>
                <a:gridCol w="3200400"/>
                <a:gridCol w="5303520"/>
              </a:tblGrid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 que preciso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Como pedir à IA (linguagem natural)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42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Somar com condição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os valores da coluna C quando a coluna A for igual a 'Aprovado'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Classificar em faixas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D2 &lt; 50 escreva Baixo, entre 50–80 Médio, acima de 80 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dado em outra aba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Busque o nome do colaborador na aba 'Cadastro' usando a matrícula em A2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itens únicos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Quantos valores distintos (sem repetição) existem na coluna B?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dias úteis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Quantos dias úteis entre a data em B2 e C2, excluindo fins de semana?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Formatação condicional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Célula fica vermelha se negativo, verde se positivo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automática de hoje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que atualiza toda vez que a planilha é aberta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dos maiores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Classifique os valores da coluna D e mostre a posição de cada 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ANÁLISE COM 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Dados e Sumário Executivo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2.3 e 2.4 · Do dado bruto ao insight em 3 minutos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FLUXO DE ANÁLISE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274320" cy="27432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Selecionar dados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2121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colunas relevantes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274320" cy="27432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377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Ctrl+C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2578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com tabulação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274320" cy="27432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834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Colar na IA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3035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prompt de análise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291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Ler insights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34930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e anomalias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274320" cy="27432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3749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aba 'Análise'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" y="3950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resultado no Excel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87952"/>
            <a:ext cx="274320" cy="27432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4206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248" y="4407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e destaques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60D18"/>
          </a:solidFill>
          <a:ln w="19050">
            <a:solidFill>
              <a:srgbClr val="1D6F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417320"/>
            <a:ext cx="4178808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1456" y="147218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74336" y="14721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57216" y="14721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14630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9744" y="171907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Analise os dados abaixo e forneça: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09744" y="1933956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Sumário (total, média, máx, mín)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9744" y="2148840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As 3 principais tendências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9744" y="2363724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Valores fora do padrão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9744" y="2578608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Comparação [PERÍODO A] vs [PERÍODO B]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09744" y="2793492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Duas recomendações de ação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09744" y="3008376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Dados: [COLAR DO EXCEL COM CTRL+C]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09744" y="3223260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NUNCA inclua dados pessoais ou sigilosos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5029200" cy="5029200"/>
          </a:xfrm>
          <a:prstGeom prst="ellipse">
            <a:avLst/>
          </a:prstGeom>
          <a:solidFill>
            <a:srgbClr val="0072C6">
              <a:alpha val="11000"/>
            </a:srgbClr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2011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OUTLOOK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217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365760" y="1938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de e-mails · Redação · Gestão de Agenda · Regras Automáticas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788920"/>
            <a:ext cx="475488" cy="475488"/>
          </a:xfrm>
          <a:prstGeom prst="ellipse">
            <a:avLst/>
          </a:prstGeom>
          <a:solidFill>
            <a:srgbClr val="0072C6">
              <a:alpha val="18000"/>
            </a:srgbClr>
          </a:solidFill>
          <a:ln w="19050">
            <a:solidFill>
              <a:srgbClr val="0072C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3464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Triagem &amp; Prioridade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96312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80944" y="2788920"/>
            <a:ext cx="475488" cy="475488"/>
          </a:xfrm>
          <a:prstGeom prst="ellipse">
            <a:avLst/>
          </a:prstGeom>
          <a:solidFill>
            <a:srgbClr val="00C2D4">
              <a:alpha val="18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83464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96312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Redação Rápida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672584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57216" y="2788920"/>
            <a:ext cx="475488" cy="475488"/>
          </a:xfrm>
          <a:prstGeom prst="ellipse">
            <a:avLst/>
          </a:prstGeom>
          <a:solidFill>
            <a:srgbClr val="F5A623">
              <a:alpha val="18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83464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72584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Inteligente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48856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33488" y="2788920"/>
            <a:ext cx="475488" cy="475488"/>
          </a:xfrm>
          <a:prstGeom prst="ellipse">
            <a:avLst/>
          </a:prstGeom>
          <a:solidFill>
            <a:srgbClr val="00D49A">
              <a:alpha val="18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83464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8856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Automáticas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TRIAGEM DE E-MAILS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Triagem e Priorização de E-mails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3.1 · Da caixa caótica à caixa organizada em minutos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24528" cy="1664208"/>
          </a:xfrm>
          <a:prstGeom prst="rect">
            <a:avLst/>
          </a:prstGeom>
          <a:solidFill>
            <a:srgbClr val="1A0808"/>
          </a:solidFill>
          <a:ln w="19050">
            <a:solidFill>
              <a:srgbClr val="FF5F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90472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URGENTE + IMPORTANTE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&lt; 2h · Copilot gera rascunho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27448" y="1417320"/>
            <a:ext cx="4224528" cy="1664208"/>
          </a:xfrm>
          <a:prstGeom prst="rect">
            <a:avLst/>
          </a:prstGeom>
          <a:solidFill>
            <a:srgbClr val="1A120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1490472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 IMPORTANTE (sem urgência)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87452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para hoje · Time block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4224528" cy="1664208"/>
          </a:xfrm>
          <a:prstGeom prst="rect">
            <a:avLst/>
          </a:prstGeom>
          <a:solidFill>
            <a:srgbClr val="080E1A"/>
          </a:solidFill>
          <a:ln w="19050">
            <a:solidFill>
              <a:srgbClr val="0072C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273552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 INFORMATIVO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com IA · Arquivar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27448" y="3200400"/>
            <a:ext cx="4224528" cy="1664208"/>
          </a:xfrm>
          <a:prstGeom prst="rect">
            <a:avLst/>
          </a:prstGeom>
          <a:solidFill>
            <a:srgbClr val="111111"/>
          </a:solidFill>
          <a:ln w="19050">
            <a:solidFill>
              <a:srgbClr val="7A8F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3273552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⬜  DELEGAR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365760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· Template de repasse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464515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7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"Classifique estes e-mails como URGENTE / IMPORTANTE / INFORMATIVO / DELEGAR. Para cada um: categoria, prazo de resposta, ação. E-mails: [COLAR]"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931920" cy="256032"/>
          </a:xfrm>
          <a:prstGeom prst="roundRect">
            <a:avLst>
              <a:gd name="adj" fmla="val 14286"/>
            </a:avLst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REDAÇÃO &amp; REGRAS AUTOMÁTICAS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Redigir E-mails e Automatizar Regras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3.2 e 3.3 · Do Copilot ao fluxo manual sem plug-in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✉️  REDIGIR COM IA — 5 PASSOS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92608" cy="292608"/>
          </a:xfrm>
          <a:prstGeom prst="ellipse">
            <a:avLst/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293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Ctrl+N — Novo E-mail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213055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janela de composição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292608" cy="292608"/>
          </a:xfrm>
          <a:prstGeom prst="ellipse">
            <a:avLst/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14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423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[Copilot] Clique em 'Rascunho'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26243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Copilot no corpo do e-mail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292608" cy="292608"/>
          </a:xfrm>
          <a:prstGeom prst="ellipse">
            <a:avLst/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07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[Sem Copilot] Abra a IA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11810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paralela no browser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01568"/>
            <a:ext cx="292608" cy="292608"/>
          </a:xfrm>
          <a:prstGeom prst="ellipse">
            <a:avLst/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4107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Cole o prompt de redação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36118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contexto, tom e extensão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95344"/>
            <a:ext cx="292608" cy="292608"/>
          </a:xfrm>
          <a:prstGeom prst="ellipse">
            <a:avLst/>
          </a:prstGeom>
          <a:solidFill>
            <a:srgbClr val="0072C6"/>
          </a:solidFill>
          <a:ln w="12700">
            <a:solidFill>
              <a:srgbClr val="0072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95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904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Ctrl+C → Ctrl+V no Outlook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410565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antes de enviar!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CRIANDO REGRAS AUTOMÁTICAS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184708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Caminho: Arquivo → Gerenciar Regras → Nova Regra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0600" y="21945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Condição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194560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Remetente contém / Assunto contém / Para mim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26700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Ação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670048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para pasta / Categorizar / Marcar lido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31455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Exceção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145536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Exceto se assunto contiver [PALAVRA]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6210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3621024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Remetente = fornecedorX → Pasta Fornecedores + Amarelo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40965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4096512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= URGENTE → Mover Entrada + Vermelho + Som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00600" y="4572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 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4572000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Boletins (newsletter) → Pasta Leitura + Marcar lido auto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5029200" cy="5029200"/>
          </a:xfrm>
          <a:prstGeom prst="ellipse">
            <a:avLst/>
          </a:prstGeom>
          <a:solidFill>
            <a:srgbClr val="EA4335">
              <a:alpha val="11000"/>
            </a:srgbClr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201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572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43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GMAIL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+ Gmail pessoal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nativo · Fluxo paralelo · Filtros · Organização automática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788920"/>
            <a:ext cx="475488" cy="475488"/>
          </a:xfrm>
          <a:prstGeom prst="ellipse">
            <a:avLst/>
          </a:prstGeom>
          <a:solidFill>
            <a:srgbClr val="EA4335">
              <a:alpha val="18000"/>
            </a:srgbClr>
          </a:solidFill>
          <a:ln w="19050">
            <a:solidFill>
              <a:srgbClr val="EA433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3464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43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no Gmail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496312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80944" y="2788920"/>
            <a:ext cx="475488" cy="475488"/>
          </a:xfrm>
          <a:prstGeom prst="ellipse">
            <a:avLst/>
          </a:prstGeom>
          <a:solidFill>
            <a:srgbClr val="00C2D4">
              <a:alpha val="18000"/>
            </a:srgbClr>
          </a:solidFill>
          <a:ln w="19050">
            <a:solidFill>
              <a:srgbClr val="00C2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83464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96312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Fluxo Paralelo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672584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157216" y="2788920"/>
            <a:ext cx="475488" cy="475488"/>
          </a:xfrm>
          <a:prstGeom prst="ellipse">
            <a:avLst/>
          </a:prstGeom>
          <a:solidFill>
            <a:srgbClr val="F5A623">
              <a:alpha val="18000"/>
            </a:srgbClr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834640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72584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Filtros &amp; Labels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48856" y="2651760"/>
            <a:ext cx="2011680" cy="1828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33488" y="2788920"/>
            <a:ext cx="475488" cy="475488"/>
          </a:xfrm>
          <a:prstGeom prst="ellipse">
            <a:avLst/>
          </a:prstGeom>
          <a:solidFill>
            <a:srgbClr val="00D49A">
              <a:alpha val="18000"/>
            </a:srgbClr>
          </a:solidFill>
          <a:ln w="19050">
            <a:solidFill>
              <a:srgbClr val="00D49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834640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48856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Triagem com IA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— GEMINI &amp; FLUXO PARALELO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no Gmail — Dois Caminhos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4.1 e 4.2 · Com Gemini nativo ou com IA em janela paralela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✨  GEMINI NATIVO (Workspace)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274320" cy="2743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Clique em 'Escrever'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2121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vermelho canto superior esq.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274320" cy="2743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377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Ícone ✦ no rodapé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2578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janela de composição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274320" cy="2743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834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'Ajude-me a escrever'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3035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descrição aparece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73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291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Descreva o e-mail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34930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linguagem natural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274320" cy="2743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30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3749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Clique em 'Inserir'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" y="3950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entra no corpo do e-mail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87952"/>
            <a:ext cx="274320" cy="274320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4206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'Refinar' para ajustar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248" y="4407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/ Elaborar / Encurtar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417320"/>
            <a:ext cx="4178808" cy="3493008"/>
          </a:xfrm>
          <a:prstGeom prst="rect">
            <a:avLst/>
          </a:prstGeom>
          <a:solidFill>
            <a:srgbClr val="0F1C2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417320"/>
            <a:ext cx="4178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FLUXO PARALELO (Qualquer Gmail)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1828800"/>
            <a:ext cx="3977640" cy="2971800"/>
          </a:xfrm>
          <a:prstGeom prst="rect">
            <a:avLst/>
          </a:prstGeom>
          <a:solidFill>
            <a:srgbClr val="060D18"/>
          </a:solidFill>
          <a:ln w="19050">
            <a:solidFill>
              <a:srgbClr val="00C2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1828800"/>
            <a:ext cx="3977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188366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47488" y="18836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0368" y="188366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64424" y="18745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82896" y="213055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RECEBER e responder: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82896" y="234543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Ctrl+A no e-mail → Ctrl+C →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82896" y="256032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Cole na IA com o prompt: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82896" y="277520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"Leia este e-mail: (1) Mensagem principal,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82896" y="29900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(2) Urgência, (3) Rascunho de resposta.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82896" y="3204972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E-mail: [COLAR]"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82896" y="3419856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ESCREVER: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82896" y="3634740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"Redija e-mail para [DESTINATÁRIO].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82896" y="3849624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Assunto: [X]. Objetivo: [Y].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82896" y="406450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Tom: [FORMAL]. Extensão: [MÉDIO]"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3749040" cy="256032"/>
          </a:xfrm>
          <a:prstGeom prst="roundRect">
            <a:avLst>
              <a:gd name="adj" fmla="val 14286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— FILTROS &amp; LABELS AUTOMÁTICOS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Organizando o Gmail com Filtros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4.3 · IA define as regras, você configura em 5 minutos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84248" cy="16916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0140" y="1508760"/>
            <a:ext cx="475488" cy="475488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cria regras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198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 estrutura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filtros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59152" y="171907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1417320"/>
            <a:ext cx="1984248" cy="16916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7540" y="1508760"/>
            <a:ext cx="475488" cy="475488"/>
          </a:xfrm>
          <a:prstGeom prst="ellipse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75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23160" y="208483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Labels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2395728"/>
            <a:ext cx="198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 esq. Gmail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(ao lado de Labels)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16552" y="171907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1417320"/>
            <a:ext cx="1984248" cy="16916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34940" y="1508760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49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80560" y="208483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Criar Filtros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395728"/>
            <a:ext cx="198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→ Configurações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Filtros → Novo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73952" y="1719072"/>
            <a:ext cx="73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1417320"/>
            <a:ext cx="1984248" cy="1691640"/>
          </a:xfrm>
          <a:prstGeom prst="rect">
            <a:avLst/>
          </a:prstGeom>
          <a:solidFill>
            <a:srgbClr val="1724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92340" y="1508760"/>
            <a:ext cx="475488" cy="475488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2340" y="1508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37960" y="208483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ação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2395728"/>
            <a:ext cx="198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Arquivar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Marcar lido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246120"/>
            <a:ext cx="5120640" cy="1664208"/>
          </a:xfrm>
          <a:prstGeom prst="rect">
            <a:avLst/>
          </a:prstGeom>
          <a:solidFill>
            <a:srgbClr val="060D18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246120"/>
            <a:ext cx="5120640" cy="237744"/>
          </a:xfrm>
          <a:prstGeom prst="rect">
            <a:avLst/>
          </a:prstGeom>
          <a:solidFill>
            <a:srgbClr val="111E30"/>
          </a:solidFill>
          <a:ln w="12700">
            <a:solidFill>
              <a:srgbClr val="111E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" y="3300984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" y="330098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" y="3300984"/>
            <a:ext cx="128016" cy="128016"/>
          </a:xfrm>
          <a:prstGeom prst="ellipse">
            <a:avLst/>
          </a:prstGeom>
          <a:solidFill>
            <a:srgbClr val="00D49A"/>
          </a:solidFill>
          <a:ln w="12700">
            <a:solidFill>
              <a:srgbClr val="00D4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32918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6344" y="3547872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43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para criar estrutura de filtros: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" y="376275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Tipos de e-mail que recebo: [LISTAR].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Sugira labels e regras de filtro para o Gmail.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" y="4192524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regra: critério de filtro + ação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6344" y="4407408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(aplicar label / arquivar / marcar lido / etc.)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6344" y="4622292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6344" y="483717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 de regra gerada pela IA: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6344" y="505206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De: *@fornecedor.com → Label "Fornecedores"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6344" y="5266944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Arquivar → sem entrar na caixa principal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23560" y="3246120"/>
            <a:ext cx="3218688" cy="1664208"/>
          </a:xfrm>
          <a:prstGeom prst="rect">
            <a:avLst/>
          </a:prstGeom>
          <a:solidFill>
            <a:srgbClr val="172438"/>
          </a:solidFill>
          <a:ln w="12700">
            <a:solidFill>
              <a:srgbClr val="EA43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742432" y="3319272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3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Labels sugeridas pela IA: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42432" y="365760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42432" y="386791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Para Responder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42432" y="407822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Fornecedores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42432" y="4288536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Projetos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742432" y="449884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Newsletters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742432" y="470916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Leitura Futura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011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GERAL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Fluxo de IA para Cada Ferramenta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recebimento ao resultado: o caminho mais curto com IA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352044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Ferramenta + Tarefa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Fluxo em 5 palavras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Atalho-chave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· Redigir documento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→ IA → Ctrl+C → Ctrl+V → Estilos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Ctrl+N → IA paralela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· Revisar texto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Selecionar → Copiar → IA → Revisar → Colar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Ctrl+A →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· Gerar 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Anotar livre → Copiar → Prompt ata → Novo doc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Ctrl+V → Novo doc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· Criar 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Descrever → Prompt → Copiar = → Colar célula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Clicar célula → Ctrl+V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· Analisar dados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Selecionar → Ctrl+C → IA → Insights → Nova aba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aba 'Análise'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· Triagem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Copiar assuntos → IA → Categorias de cor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Botão direito → Categorizar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· Redigir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Ctrl+N → IA paralela → Copiar → Ctrl+V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ou aba paralela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· Regras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sugere critérios → Arquivo → Gerenciar Regras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 → Regras → 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· 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Escrever → ✦ → Descrever → Inserir → Refinar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no rodapé da janela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· Filtros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lista regras → ⚙️ Configurações → Filtros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D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⚙️ → Filtros → Criar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48006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43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2026-06-02T15:01:12Z</dcterms:created>
  <dcterms:modified xsi:type="dcterms:W3CDTF">2026-06-02T15:01:12Z</dcterms:modified>
</cp:coreProperties>
</file>