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pt-BR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r>
              <a:rPr sz="1200" b="0" i="0" u="none" strike="noStrike">
                <a:solidFill>
                  <a:srgbClr val="94A3B8"/>
                </a:solidFill>
                <a:latin typeface="Arial"/>
              </a:rPr>
              <a:t>Tempo para criar fórmula (min)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Minutos</c:v>
                </c:pt>
              </c:strCache>
            </c:strRef>
          </c:tx>
          <c:spPr>
            <a:solidFill>
              <a:srgbClr val="FF6B6B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13E-4AFE-BE97-FDA25C59DAB0}"/>
              </c:ext>
            </c:extLst>
          </c:dPt>
          <c:dPt>
            <c:idx val="1"/>
            <c:invertIfNegative val="0"/>
            <c:bubble3D val="0"/>
            <c:spPr>
              <a:solidFill>
                <a:srgbClr val="00B4D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13E-4AFE-BE97-FDA25C59DAB0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pt-BR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Sem IA</c:v>
                </c:pt>
                <c:pt idx="1">
                  <c:v>Com IA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</c:v>
                </c:pt>
                <c:pt idx="1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13E-4AFE-BE97-FDA25C59DA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pt-BR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F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94A3B8"/>
                </a:solidFill>
                <a:latin typeface="Arial"/>
              </a:defRPr>
            </a:pPr>
            <a:endParaRPr lang="pt-BR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6203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236379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9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0" y="-1371600"/>
            <a:ext cx="5486400" cy="5486400"/>
          </a:xfrm>
          <a:prstGeom prst="ellipse">
            <a:avLst/>
          </a:prstGeom>
          <a:solidFill>
            <a:srgbClr val="0F2E55"/>
          </a:solidFill>
          <a:ln w="12700">
            <a:solidFill>
              <a:srgbClr val="0F2E5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1A4E8C">
              <a:alpha val="50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274320"/>
            <a:ext cx="2011680" cy="20116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1005840"/>
            <a:ext cx="54864" cy="25603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10058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PARA O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640080" y="1691640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ADMINISTRATIVO</a:t>
            </a:r>
            <a:endParaRPr lang="en-US" sz="4800" dirty="0"/>
          </a:p>
        </p:txBody>
      </p:sp>
      <p:sp>
        <p:nvSpPr>
          <p:cNvPr id="8" name="Text 5"/>
          <p:cNvSpPr/>
          <p:nvPr/>
        </p:nvSpPr>
        <p:spPr>
          <a:xfrm>
            <a:off x="640080" y="25146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Básico ao Prático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640080" y="30632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3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Módulos  •  Fundamentos + Aplicação  •  Todas as Áreas Administrativas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40080" y="443484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162032"/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0080" y="4434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RH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331720" y="443484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162032"/>
          </a:solidFill>
          <a:ln w="19050">
            <a:solidFill>
              <a:srgbClr val="F4A40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331720" y="4434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Financeiro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023360" y="443484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162032"/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023360" y="4434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5715000" y="443484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162032"/>
          </a:solidFill>
          <a:ln w="19050">
            <a:solidFill>
              <a:srgbClr val="FF6B6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715000" y="4434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7406640" y="4434840"/>
            <a:ext cx="1508760" cy="384048"/>
          </a:xfrm>
          <a:prstGeom prst="roundRect">
            <a:avLst>
              <a:gd name="adj" fmla="val 14286"/>
            </a:avLst>
          </a:prstGeom>
          <a:solidFill>
            <a:srgbClr val="162032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406640" y="4434840"/>
            <a:ext cx="1508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Operações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20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INTELIGÊNCIA ARTIFICIAL?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Desmistificando a IA para profissionais administrativos</a:t>
            </a:r>
            <a:endParaRPr lang="en-US" sz="16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731520"/>
            <a:ext cx="1645920" cy="164592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57200" y="2834640"/>
            <a:ext cx="50292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" y="2898648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1.1  Definição Simples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457200" y="3493008"/>
            <a:ext cx="50292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0080" y="3557016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1.2  Como a IA Aprende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4151376"/>
            <a:ext cx="5029200" cy="53035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40080" y="4215384"/>
            <a:ext cx="4663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1.3  IA no Dia a Dia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Inteligência Artificial?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1.1 — Definição simples, sem tecnicismos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" cy="13716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6304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"IA é a capacidade de um computador realizar tarefas que normalmente exigiriam inteligência humana — como ler, responder, reconhecer e decidir."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457200" y="2971800"/>
            <a:ext cx="260604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822960" y="3108960"/>
            <a:ext cx="594360" cy="594360"/>
          </a:xfrm>
          <a:prstGeom prst="ellipse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54680"/>
            <a:ext cx="502920" cy="5029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57200" y="3749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Aprende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5720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exemplos e dados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3291840" y="2971800"/>
            <a:ext cx="260604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657600" y="3108960"/>
            <a:ext cx="594360" cy="594360"/>
          </a:xfrm>
          <a:prstGeom prst="ellipse">
            <a:avLst/>
          </a:prstGeom>
          <a:solidFill>
            <a:srgbClr val="F4A400">
              <a:alpha val="20000"/>
            </a:srgbClr>
          </a:solidFill>
          <a:ln w="19050">
            <a:solidFill>
              <a:srgbClr val="F4A400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3154680"/>
            <a:ext cx="502920" cy="5029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291840" y="3749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Adapta</a:t>
            </a:r>
            <a:endParaRPr lang="en-US" sz="1600" dirty="0"/>
          </a:p>
        </p:txBody>
      </p:sp>
      <p:sp>
        <p:nvSpPr>
          <p:cNvPr id="18" name="Text 14"/>
          <p:cNvSpPr/>
          <p:nvPr/>
        </p:nvSpPr>
        <p:spPr>
          <a:xfrm>
            <a:off x="329184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comportamento com o tempo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6126480" y="2971800"/>
            <a:ext cx="2606040" cy="1691640"/>
          </a:xfrm>
          <a:prstGeom prst="rect">
            <a:avLst/>
          </a:prstGeom>
          <a:solidFill>
            <a:srgbClr val="1E2D4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92240" y="3108960"/>
            <a:ext cx="594360" cy="594360"/>
          </a:xfrm>
          <a:prstGeom prst="ellipse">
            <a:avLst/>
          </a:prstGeom>
          <a:solidFill>
            <a:srgbClr val="7B61FF">
              <a:alpha val="20000"/>
            </a:srgbClr>
          </a:solidFill>
          <a:ln w="19050">
            <a:solidFill>
              <a:srgbClr val="7B61FF"/>
            </a:solidFill>
            <a:prstDash val="solid"/>
          </a:ln>
        </p:spPr>
      </p:sp>
      <p:pic>
        <p:nvPicPr>
          <p:cNvPr id="2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37960" y="3154680"/>
            <a:ext cx="502920" cy="502920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6126480" y="3749040"/>
            <a:ext cx="2606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Executa</a:t>
            </a:r>
            <a:endParaRPr lang="en-US" sz="1600" dirty="0"/>
          </a:p>
        </p:txBody>
      </p:sp>
      <p:sp>
        <p:nvSpPr>
          <p:cNvPr id="23" name="Text 18"/>
          <p:cNvSpPr/>
          <p:nvPr/>
        </p:nvSpPr>
        <p:spPr>
          <a:xfrm>
            <a:off x="6126480" y="4069080"/>
            <a:ext cx="2606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tarefas que parecem humanas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a IA Aprende?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1.2 — Analogia com aprendizado humano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3832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44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👧 CRIANÇA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057400"/>
            <a:ext cx="201168" cy="201168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Vê muitos cachorros → aprende o que é cachorro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651760"/>
            <a:ext cx="201168" cy="201168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32688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Quanto mais exemplos, melhor reconhece variações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246120"/>
            <a:ext cx="201168" cy="201168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2688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 errar em casos incomuns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840480"/>
            <a:ext cx="201168" cy="201168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Aprende com correções dos adultos</a:t>
            </a:r>
            <a:endParaRPr lang="en-US" sz="130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34840" y="2377440"/>
            <a:ext cx="365760" cy="36576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4846320" y="1371600"/>
            <a:ext cx="3840480" cy="33832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846320" y="144475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🤖 INTELIGÊNCIA ARTIFICIAL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5029200" y="205740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321808" y="201168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milhões de textos → aprende linguagem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0" y="265176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321808" y="260604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Mais dados = respostas mais precisas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5029200" y="324612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321808" y="320040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Erra em situações fora do padrão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029200" y="3840480"/>
            <a:ext cx="201168" cy="201168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321808" y="379476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Melhora com ajustes e correções humanas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IA Já Está no Seu Dia a Dia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1.3 — Você já usa IA — só ainda não sabia disso!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" y="137160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44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📱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45720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Smartphone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Corretor ortográfico, Face ID, Siri/Google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46120" y="137160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37560" y="1444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🔍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333756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Buscadores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3756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Resultados personalizados, auto-complete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126480" y="137160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217920" y="144475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📧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6217920" y="19202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E-mail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217920" y="224028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 de spam, sugestão de resposta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15468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3227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🎬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5720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Streaming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57200" y="4023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Recomendação de filmes e músicas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46120" y="315468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337560" y="3227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🗺️</a:t>
            </a:r>
            <a:endParaRPr lang="en-US" sz="2600" dirty="0"/>
          </a:p>
        </p:txBody>
      </p:sp>
      <p:sp>
        <p:nvSpPr>
          <p:cNvPr id="24" name="Text 22"/>
          <p:cNvSpPr/>
          <p:nvPr/>
        </p:nvSpPr>
        <p:spPr>
          <a:xfrm>
            <a:off x="333756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Mapas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337560" y="4023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Rotas em tempo real, previsão de trânsito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315468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6217920" y="3227832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💳</a:t>
            </a:r>
            <a:endParaRPr lang="en-US" sz="2600" dirty="0"/>
          </a:p>
        </p:txBody>
      </p:sp>
      <p:sp>
        <p:nvSpPr>
          <p:cNvPr id="28" name="Text 26"/>
          <p:cNvSpPr/>
          <p:nvPr/>
        </p:nvSpPr>
        <p:spPr>
          <a:xfrm>
            <a:off x="6217920" y="370332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Banco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217920" y="4023360"/>
            <a:ext cx="2468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Detecção de fraude, análise de crédito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1828800"/>
            <a:ext cx="4572000" cy="45720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CONCEITOS ESSENCIAIS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 IA em Linguagem Simples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28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2.1 — Glossário Comentado  •  Aula 2.2 — Alucinações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260604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4688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91840" y="2468880"/>
            <a:ext cx="260604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4688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126480" y="2468880"/>
            <a:ext cx="260604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246888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Token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3474720"/>
            <a:ext cx="260604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" y="3474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291840" y="3474720"/>
            <a:ext cx="260604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291840" y="3474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Alucinação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26480" y="3474720"/>
            <a:ext cx="2606040" cy="7772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26480" y="3474720"/>
            <a:ext cx="26060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Temperatura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Glossário de IA — Parte 1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2.1 — Os termos que você vai ouvir sempre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44475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Machine Learning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85800" y="173736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aprende sozinha com dados. Ex.: filtro de spam do e-mail.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240280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40280"/>
            <a:ext cx="64008" cy="7132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231343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LLM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260604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linguagem treinado com bilhões de textos. É o motor do ChatGPT e Claude.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64008" cy="7132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5800" y="318211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Generativa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85800" y="34747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que cria conteúdo novo: texto, imagem, áudio. É o que usamos no curso.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3977640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77640"/>
            <a:ext cx="64008" cy="713232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5800" y="4050792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85800" y="434340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instrução que você dá para a IA. Quanto melhor o prompt, melhor a resposta.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Alucinações — O Principal Risco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2.2 — Quando a IA inventa com confiança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8229600" cy="1005840"/>
          </a:xfrm>
          <a:prstGeom prst="rect">
            <a:avLst/>
          </a:prstGeom>
          <a:solidFill>
            <a:srgbClr val="1A0A0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64008" cy="100584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8132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34440" y="144475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Alucinação de IA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234440" y="1764792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pode inventar nomes, datas, leis e referências que não existem — com total confiança. Não é mentira intencional: é uma limitação técnica.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57200" y="260604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94360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Dados numéricos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9436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Verifique na fonte oficial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4709160" y="260604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846320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Referências e links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4846320" y="297180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o link — pode não existir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57200" y="370332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594360" y="3776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Legislação específica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594360" y="4069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com setor jurídico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3703320"/>
            <a:ext cx="4023360" cy="868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4846320" y="37764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⚠ Nomes de pessoas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4846320" y="406908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Pesquise antes de usar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0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486400" cy="5486400"/>
          </a:xfrm>
          <a:prstGeom prst="ellipse">
            <a:avLst/>
          </a:prstGeom>
          <a:solidFill>
            <a:srgbClr val="06D6A0">
              <a:alpha val="8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GENERATIVA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Assistentes Virtuais</a:t>
            </a:r>
            <a:endParaRPr lang="en-US" sz="3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48640"/>
            <a:ext cx="1463040" cy="1463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74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principais ferramentas do mercado e como fazer o primeiro acesso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2560320"/>
            <a:ext cx="155448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3182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103120" y="2560320"/>
            <a:ext cx="155448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10312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Gemini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2103120" y="3182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3840480" y="2560320"/>
            <a:ext cx="155448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384048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Copilot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3840480" y="3182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5577840" y="2560320"/>
            <a:ext cx="155448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57784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5577840" y="3182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7315200" y="2560320"/>
            <a:ext cx="155448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19"/>
          <p:cNvSpPr/>
          <p:nvPr/>
        </p:nvSpPr>
        <p:spPr>
          <a:xfrm>
            <a:off x="7315200" y="2743200"/>
            <a:ext cx="1554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Perplexity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7315200" y="318211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AI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Comparativo de Ferramentas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3.1 — Quando usar cada uma</a:t>
            </a:r>
            <a:endParaRPr lang="en-US" sz="1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320040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Ferramenta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Melhor Para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8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ChatGPT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Textos, análises, conversas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/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Workspace, pesquisa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Docs/Drive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Word, Excel, Outlook, Teams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365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Documentos longos, análise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/ API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Perplexity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Pesquisa com fontes citadas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03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Seu Primeiro Acesso — Passo a Passo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3.2 — Prática guiada: ChatGPT como referência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94360" y="1481328"/>
            <a:ext cx="438912" cy="43891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43000" y="148132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 chat.openai.com (ou a ferramenta da empresa)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800600" y="137160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937760" y="1481328"/>
            <a:ext cx="438912" cy="43891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4813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0" y="148132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'Sign up' e crie conta com e-mail ou Google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57200" y="256032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94360" y="2670048"/>
            <a:ext cx="438912" cy="43891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43000" y="267004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o e-mail recebido na sua caixa de entrada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800600" y="256032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2670048"/>
            <a:ext cx="438912" cy="43891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6700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86400" y="267004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tela inicial, você verá a caixa de mensagem — é o prompt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74904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858768"/>
            <a:ext cx="438912" cy="438912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858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1143000" y="385876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privacidade: desative 'Melhorar o modelo'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800600" y="374904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937760" y="3858768"/>
            <a:ext cx="438912" cy="43891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3858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486400" y="3858768"/>
            <a:ext cx="3429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PRONTO! Digite sua primeira mensagem e envie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508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914400"/>
            <a:ext cx="4572000" cy="4572000"/>
          </a:xfrm>
          <a:prstGeom prst="ellipse">
            <a:avLst/>
          </a:prstGeom>
          <a:solidFill>
            <a:srgbClr val="FF6B6B">
              <a:alpha val="8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ÉTICA, PRIVACIDADE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7772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Riscos e Segurança de Dados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74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módulo mais crítico do curso — use IA com responsabilidade e segurança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468880"/>
            <a:ext cx="8229600" cy="640080"/>
          </a:xfrm>
          <a:prstGeom prst="rect">
            <a:avLst/>
          </a:prstGeom>
          <a:solidFill>
            <a:srgbClr val="2A0A0A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2578608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43000" y="258775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ATENÇÃO: Usar IA sem cuidado pode expor dados confidenciais e gerar problemas legais.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337560"/>
            <a:ext cx="196596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9"/>
          <p:cNvSpPr/>
          <p:nvPr/>
        </p:nvSpPr>
        <p:spPr>
          <a:xfrm>
            <a:off x="457200" y="3337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Vermelha (NÃO inserir)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2651760" y="3337560"/>
            <a:ext cx="196596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2651760" y="3337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Verde (seguro)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4846320" y="3337560"/>
            <a:ext cx="196596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4846320" y="3337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LGPD &amp; IA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7040880" y="3337560"/>
            <a:ext cx="1965960" cy="8229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5"/>
          <p:cNvSpPr/>
          <p:nvPr/>
        </p:nvSpPr>
        <p:spPr>
          <a:xfrm>
            <a:off x="7040880" y="3337560"/>
            <a:ext cx="1965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Cenários práticos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Inserir (ou Não) na 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4.1 — Regras claras de segurança de dados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383280"/>
          </a:xfrm>
          <a:prstGeom prst="rect">
            <a:avLst/>
          </a:prstGeom>
          <a:solidFill>
            <a:srgbClr val="18080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🚫  NUNCA INSERIR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94360" y="1965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CPF, RG, dados pessoais de clientes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2423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Dados bancários ou de cartão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28803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Senhas e tokens de acesso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33375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Contratos com valores reais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94360" y="37947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Dados de saúde de pessoas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94360" y="4251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Documentos estratégicos sigilosos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846320" y="1371600"/>
            <a:ext cx="3840480" cy="3383280"/>
          </a:xfrm>
          <a:prstGeom prst="rect">
            <a:avLst/>
          </a:prstGeom>
          <a:solidFill>
            <a:srgbClr val="08180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PODE USAR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83480" y="1965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Textos genéricos sem dados reais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983480" y="24231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Templates com dados fictícios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983480" y="28803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Perguntas conceituais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83480" y="33375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Rascunhos sem informações sigilosas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983480" y="37947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Processos descritos de forma geral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983480" y="4251960"/>
            <a:ext cx="3520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Criação de checklists e roteiros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04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Atividade: Seguro ou Arriscado?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F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4.2 — Analise cada cenário com o grupo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9436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108960" y="141732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417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PROIBIDO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94360" y="176479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Joana cola lista com CPFs de funcionários para gerar planilha de aniversários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800600" y="1371600"/>
            <a:ext cx="41148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4447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2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52360" y="141732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52360" y="14173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37760" y="176479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Carlos usa IA para criar e-mail padrão de boas-vindas sem dados reais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200400"/>
            <a:ext cx="41148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3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108960" y="324612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108960" y="32461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ARRISCADO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94360" y="359359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 insere contrato com valores reais para pedir resumo à IA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800600" y="3200400"/>
            <a:ext cx="41148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37760" y="32735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4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452360" y="3246120"/>
            <a:ext cx="1280160" cy="292608"/>
          </a:xfrm>
          <a:prstGeom prst="roundRect">
            <a:avLst>
              <a:gd name="adj" fmla="val 15625"/>
            </a:avLst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52360" y="3246120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SEGURO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937760" y="3593592"/>
            <a:ext cx="37947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Pedro cria checklist de onboarding com cargos genéricos, sem nomear ninguém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A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F4A400">
              <a:alpha val="7000"/>
            </a:srgbClr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ESCREVER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457200" y="125272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BONS PROMPTS</a:t>
            </a:r>
            <a:endParaRPr lang="en-US" sz="4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9202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habilidade central que transforma sua relação com a IA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457200" y="2606040"/>
            <a:ext cx="196596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22960" y="2743200"/>
            <a:ext cx="1188720" cy="914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4400" dirty="0"/>
          </a:p>
        </p:txBody>
      </p:sp>
      <p:sp>
        <p:nvSpPr>
          <p:cNvPr id="12" name="Text 9"/>
          <p:cNvSpPr/>
          <p:nvPr/>
        </p:nvSpPr>
        <p:spPr>
          <a:xfrm>
            <a:off x="457200" y="3749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2633472" y="2606040"/>
            <a:ext cx="196596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999232" y="2743200"/>
            <a:ext cx="1188720" cy="914400"/>
          </a:xfrm>
          <a:prstGeom prst="ellipse">
            <a:avLst/>
          </a:prstGeom>
          <a:solidFill>
            <a:srgbClr val="F4A400">
              <a:alpha val="15000"/>
            </a:srgbClr>
          </a:solidFill>
          <a:ln w="19050">
            <a:solidFill>
              <a:srgbClr val="F4A40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99232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4400" dirty="0"/>
          </a:p>
        </p:txBody>
      </p:sp>
      <p:sp>
        <p:nvSpPr>
          <p:cNvPr id="16" name="Text 13"/>
          <p:cNvSpPr/>
          <p:nvPr/>
        </p:nvSpPr>
        <p:spPr>
          <a:xfrm>
            <a:off x="2633472" y="3749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Instrução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809744" y="2606040"/>
            <a:ext cx="196596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75504" y="2743200"/>
            <a:ext cx="1188720" cy="914400"/>
          </a:xfrm>
          <a:prstGeom prst="ellipse">
            <a:avLst/>
          </a:prstGeom>
          <a:solidFill>
            <a:srgbClr val="7B61FF">
              <a:alpha val="15000"/>
            </a:srgbClr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175504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4400" dirty="0"/>
          </a:p>
        </p:txBody>
      </p:sp>
      <p:sp>
        <p:nvSpPr>
          <p:cNvPr id="20" name="Text 17"/>
          <p:cNvSpPr/>
          <p:nvPr/>
        </p:nvSpPr>
        <p:spPr>
          <a:xfrm>
            <a:off x="4809744" y="3749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986016" y="2606040"/>
            <a:ext cx="1965960" cy="17373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7351776" y="2743200"/>
            <a:ext cx="1188720" cy="914400"/>
          </a:xfrm>
          <a:prstGeom prst="ellipse">
            <a:avLst/>
          </a:prstGeom>
          <a:solidFill>
            <a:srgbClr val="06D6A0">
              <a:alpha val="15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351776" y="2743200"/>
            <a:ext cx="11887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4400" dirty="0"/>
          </a:p>
        </p:txBody>
      </p:sp>
      <p:sp>
        <p:nvSpPr>
          <p:cNvPr id="24" name="Text 21"/>
          <p:cNvSpPr/>
          <p:nvPr/>
        </p:nvSpPr>
        <p:spPr>
          <a:xfrm>
            <a:off x="6986016" y="374904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C.I.F.E.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5.1 — Os 4 elementos de um prompt eficaz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435608"/>
            <a:ext cx="530352" cy="530352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35608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234440" y="143560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Contexto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737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quem você é e qual a situação. 'Sou assistente de RH de uma empresa com 200 funcionários...'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" y="2231136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" y="2313432"/>
            <a:ext cx="530352" cy="530352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13432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234440" y="231343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Instrução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61518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verbos claros: Crie, Resuma, Liste, Revise, Compare. Evite pedidos vagos como 'fale sobre'.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108960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91256"/>
            <a:ext cx="530352" cy="530352"/>
          </a:xfrm>
          <a:prstGeom prst="ellipse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191256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34440" y="319125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Formato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234440" y="34930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Diga COMO quer receber. 'Em tabela', 'em bullet points', 'máximo 3 parágrafos', 'e-mail formal'.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8640" y="4069080"/>
            <a:ext cx="530352" cy="530352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48640" y="4069080"/>
            <a:ext cx="530352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234440" y="406908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Exemplo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234440" y="4370832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Mostre um exemplo do que espera. 'O tom deve ser similar a este comunicado: [colar]'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Prompt Fraco × Prompt Forte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5.2 — Veja a diferença na prática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3840480" cy="3383280"/>
          </a:xfrm>
          <a:prstGeom prst="rect">
            <a:avLst/>
          </a:prstGeom>
          <a:solidFill>
            <a:srgbClr val="1A1000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71600"/>
            <a:ext cx="3840480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716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❌  PROMPT FRACO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1920240"/>
            <a:ext cx="3474720" cy="594360"/>
          </a:xfrm>
          <a:prstGeom prst="roundRect">
            <a:avLst>
              <a:gd name="adj" fmla="val 12308"/>
            </a:avLst>
          </a:prstGeom>
          <a:solidFill>
            <a:srgbClr val="2A1500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20240"/>
            <a:ext cx="3474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"Faz uma ata de reunião"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606040"/>
            <a:ext cx="3474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Genérico, sem contexto, formato impreciso, precisará de muita edição.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846320" y="1371600"/>
            <a:ext cx="3840480" cy="3383280"/>
          </a:xfrm>
          <a:prstGeom prst="rect">
            <a:avLst/>
          </a:prstGeom>
          <a:solidFill>
            <a:srgbClr val="001A08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846320" y="1371600"/>
            <a:ext cx="384048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46320" y="137160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✅  PROMPT FORTE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029200" y="1920240"/>
            <a:ext cx="3474720" cy="1463040"/>
          </a:xfrm>
          <a:prstGeom prst="roundRect">
            <a:avLst>
              <a:gd name="adj" fmla="val 5000"/>
            </a:avLst>
          </a:prstGeom>
          <a:solidFill>
            <a:srgbClr val="001808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0" y="1920240"/>
            <a:ext cx="347472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90FF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"Sou analista de RH. Crie uma ata formal da reunião de metas com: data 10/06, presentes [nomes], decisões em tópicos numerados, responsáveis e prazos em tabela."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029200" y="3474720"/>
            <a:ext cx="3474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Resultado: Documento pronto, precisa de pequenas revisões.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Técnicas de Prompt por Objetivo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6 — Ferramentas para cada tipo de tarefa administrativa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0876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65760" y="20116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RESUMO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36576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Reduzir textos longos ao essencial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246120" y="137160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429000" y="1463040"/>
            <a:ext cx="548640" cy="548640"/>
          </a:xfrm>
          <a:prstGeom prst="ellipse">
            <a:avLst/>
          </a:prstGeom>
          <a:solidFill>
            <a:srgbClr val="F4A400">
              <a:alpha val="20000"/>
            </a:srgbClr>
          </a:solidFill>
          <a:ln w="19050">
            <a:solidFill>
              <a:srgbClr val="F4A400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0" y="1508760"/>
            <a:ext cx="457200" cy="45720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246120" y="20116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CRIAÇÃO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24612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Gerar documentos do zero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6126480" y="137160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1463040"/>
            <a:ext cx="548640" cy="548640"/>
          </a:xfrm>
          <a:prstGeom prst="ellipse">
            <a:avLst/>
          </a:prstGeom>
          <a:solidFill>
            <a:srgbClr val="06D6A0">
              <a:alpha val="20000"/>
            </a:srgbClr>
          </a:solidFill>
          <a:ln w="19050">
            <a:solidFill>
              <a:srgbClr val="06D6A0"/>
            </a:solidFill>
            <a:prstDash val="solid"/>
          </a:ln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5080" y="150876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126480" y="201168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REVISÃO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126480" y="233172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e aprimorar textos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365760" y="315468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246120"/>
            <a:ext cx="548640" cy="548640"/>
          </a:xfrm>
          <a:prstGeom prst="ellipse">
            <a:avLst/>
          </a:prstGeom>
          <a:solidFill>
            <a:srgbClr val="7B61FF">
              <a:alpha val="20000"/>
            </a:srgbClr>
          </a:solidFill>
          <a:ln w="19050">
            <a:solidFill>
              <a:srgbClr val="7B61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291840"/>
            <a:ext cx="457200" cy="45720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365760" y="37947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ANÁLISE</a:t>
            </a:r>
            <a:endParaRPr lang="en-US" sz="1400" dirty="0"/>
          </a:p>
        </p:txBody>
      </p:sp>
      <p:sp>
        <p:nvSpPr>
          <p:cNvPr id="26" name="Text 20"/>
          <p:cNvSpPr/>
          <p:nvPr/>
        </p:nvSpPr>
        <p:spPr>
          <a:xfrm>
            <a:off x="36576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Extrair insights de dados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46120" y="315468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3429000" y="3246120"/>
            <a:ext cx="548640" cy="548640"/>
          </a:xfrm>
          <a:prstGeom prst="ellipse">
            <a:avLst/>
          </a:prstGeom>
          <a:solidFill>
            <a:srgbClr val="FF6B6B">
              <a:alpha val="20000"/>
            </a:srgbClr>
          </a:solidFill>
          <a:ln w="19050">
            <a:solidFill>
              <a:srgbClr val="FF6B6B"/>
            </a:solidFill>
            <a:prstDash val="solid"/>
          </a:ln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74720" y="3291840"/>
            <a:ext cx="457200" cy="45720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3246120" y="37947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PERSONA</a:t>
            </a:r>
            <a:endParaRPr lang="en-US" sz="1400" dirty="0"/>
          </a:p>
        </p:txBody>
      </p:sp>
      <p:sp>
        <p:nvSpPr>
          <p:cNvPr id="31" name="Text 24"/>
          <p:cNvSpPr/>
          <p:nvPr/>
        </p:nvSpPr>
        <p:spPr>
          <a:xfrm>
            <a:off x="324612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assume papel especialista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6126480" y="3154680"/>
            <a:ext cx="265176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6309360" y="3246120"/>
            <a:ext cx="548640" cy="548640"/>
          </a:xfrm>
          <a:prstGeom prst="ellipse">
            <a:avLst/>
          </a:prstGeom>
          <a:solidFill>
            <a:srgbClr val="00B4D8">
              <a:alpha val="20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355080" y="3291840"/>
            <a:ext cx="457200" cy="45720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6126480" y="379476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ENCADEADO</a:t>
            </a:r>
            <a:endParaRPr lang="en-US" sz="1400" dirty="0"/>
          </a:p>
        </p:txBody>
      </p:sp>
      <p:sp>
        <p:nvSpPr>
          <p:cNvPr id="36" name="Text 28"/>
          <p:cNvSpPr/>
          <p:nvPr/>
        </p:nvSpPr>
        <p:spPr>
          <a:xfrm>
            <a:off x="6126480" y="41148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Múltiplos prompts em sequência</a:t>
            </a:r>
            <a:endParaRPr lang="en-US" sz="1100" dirty="0"/>
          </a:p>
        </p:txBody>
      </p:sp>
      <p:sp>
        <p:nvSpPr>
          <p:cNvPr id="37" name="Text 29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1371600"/>
            <a:ext cx="4114800" cy="41148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PARA TEXTOS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 Documentos Corporativos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219456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457200" y="21945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📧 E-mails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3291840" y="219456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3291840" y="21945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📋 Atas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6126480" y="219456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219456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📢 Comunicados</a:t>
            </a:r>
            <a:endParaRPr lang="en-US" sz="1600" dirty="0"/>
          </a:p>
        </p:txBody>
      </p:sp>
      <p:sp>
        <p:nvSpPr>
          <p:cNvPr id="14" name="Shape 11"/>
          <p:cNvSpPr/>
          <p:nvPr/>
        </p:nvSpPr>
        <p:spPr>
          <a:xfrm>
            <a:off x="457200" y="352044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457200" y="352044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📊 Relatórios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3291840" y="352044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3291840" y="352044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✏️ Revisões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6126480" y="352044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126480" y="352044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☑️ Checklists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07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E-mails Profissionais com 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7.1 — 6 tipos mais comuns no ambiente administrativo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90472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4904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Cobrança de prazo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18872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pronto disponível no material do participante →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800600" y="137160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1490472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904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Confirmação de reunião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53212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pronto disponível no material do participante →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57200" y="137160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490472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188720" y="14904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Encaminhamento de doc.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188720" y="192024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pronto disponível no material do participante →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4800600" y="260604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724912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532120" y="27249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Resposta a reclamação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55321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pronto disponível no material do participante →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57200" y="260604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724912"/>
            <a:ext cx="411480" cy="41148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188720" y="27249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Solicitação de info.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11887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pronto disponível no material do participante →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4800600" y="2606040"/>
            <a:ext cx="4114800" cy="100584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01768" y="2724912"/>
            <a:ext cx="411480" cy="4114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5532120" y="272491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Comunicado interno</a:t>
            </a:r>
            <a:endParaRPr lang="en-US" sz="1400" dirty="0"/>
          </a:p>
        </p:txBody>
      </p:sp>
      <p:sp>
        <p:nvSpPr>
          <p:cNvPr id="29" name="Text 21"/>
          <p:cNvSpPr/>
          <p:nvPr/>
        </p:nvSpPr>
        <p:spPr>
          <a:xfrm>
            <a:off x="5532120" y="31546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pronto disponível no material do participante →</a:t>
            </a:r>
            <a:endParaRPr lang="en-US" sz="1100" dirty="0"/>
          </a:p>
        </p:txBody>
      </p:sp>
      <p:sp>
        <p:nvSpPr>
          <p:cNvPr id="30" name="Shape 22"/>
          <p:cNvSpPr/>
          <p:nvPr/>
        </p:nvSpPr>
        <p:spPr>
          <a:xfrm>
            <a:off x="457200" y="4617720"/>
            <a:ext cx="8229600" cy="347472"/>
          </a:xfrm>
          <a:prstGeom prst="roundRect">
            <a:avLst>
              <a:gd name="adj" fmla="val 15789"/>
            </a:avLst>
          </a:prstGeom>
          <a:solidFill>
            <a:srgbClr val="1E2D42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594360" y="4617720"/>
            <a:ext cx="7955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DESAFIO: 3 documentos em 10 minutos — e-mail + ata + comunicado!</a:t>
            </a:r>
            <a:endParaRPr lang="en-US" sz="1300" dirty="0"/>
          </a:p>
        </p:txBody>
      </p:sp>
      <p:sp>
        <p:nvSpPr>
          <p:cNvPr id="32" name="Text 2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70D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457200"/>
            <a:ext cx="4114800" cy="4114800"/>
          </a:xfrm>
          <a:prstGeom prst="ellipse">
            <a:avLst/>
          </a:prstGeom>
          <a:solidFill>
            <a:srgbClr val="00B4D8">
              <a:alpha val="1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IA PARA PLANILHAS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Fórmulas e Análise de Dados</a:t>
            </a:r>
            <a:endParaRPr lang="en-US" sz="28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74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saber programar — você descreve, a IA cria a fórmula</a:t>
            </a:r>
            <a:endParaRPr lang="en-US" sz="14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57200" y="2468880"/>
          <a:ext cx="411480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4846320" y="2468880"/>
            <a:ext cx="3840480" cy="22860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5029200" y="2578608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você aprende neste módulo: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5029200" y="2944368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Pedir fórmulas em português simples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029200" y="3282696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Criar planilhas do zero com IA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0" y="3621024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Interpretar fórmulas existentes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5029200" y="3959352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Tabelas dinâmicas guiadas por IA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5029200" y="4297680"/>
            <a:ext cx="3474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Análise de dados sem programar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08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Gerando Fórmulas com 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8.1 — Você descreve em português, a IA gera a fórmula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53312"/>
            <a:ext cx="64008" cy="71323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4264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Somar com condição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0078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"Some os valores da coluna C quando a coluna A contiver 'Aprovado'"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231136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231136"/>
            <a:ext cx="64008" cy="713232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23042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Calcular dias úteis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58368" y="257860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"Calcule quantos dias úteis faltam entre B2 e hoje, excluindo fins de semana"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108960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108960"/>
            <a:ext cx="64008" cy="713232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8368" y="318211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Classificar automaticamente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3456432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"Classifique D2 como Crítico (&lt;50), Atenção (50-80) ou OK (&gt;80)"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986784"/>
            <a:ext cx="8229600" cy="713232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3986784"/>
            <a:ext cx="64008" cy="71323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405993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Buscar em outra aba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8368" y="43342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"PROCV para buscar nome do colaborador na aba 'Cadastro' pela matrícula"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0"/>
            <a:ext cx="3657600" cy="3657600"/>
          </a:xfrm>
          <a:prstGeom prst="ellipse">
            <a:avLst/>
          </a:prstGeom>
          <a:solidFill>
            <a:srgbClr val="F4A400">
              <a:alpha val="9000"/>
            </a:srgbClr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09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Automação de Tarefas Rotineiras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9 — Identifique e automatize o que desperdiça seu tempo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0292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71600"/>
            <a:ext cx="8229600" cy="1188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444752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TESTE DAS 3 PERGUNTAS — Se responder SIM para 2+, a tarefa pode ser automatizada: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1783080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Essa tarefa se repete com a mesma estrutura toda semana/mês?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0080" y="2029968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Ela segue regras claras? (se X acontece, faça Y)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0080" y="2276856"/>
            <a:ext cx="7772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❓ Consome mais de 30 minutos e não exige criatividade?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2834640"/>
            <a:ext cx="196596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749808" y="2971800"/>
            <a:ext cx="1371600" cy="1005840"/>
          </a:xfrm>
          <a:prstGeom prst="ellipse">
            <a:avLst/>
          </a:prstGeom>
          <a:solidFill>
            <a:srgbClr val="FF6B6B">
              <a:alpha val="15000"/>
            </a:srgbClr>
          </a:solidFill>
          <a:ln w="19050">
            <a:solidFill>
              <a:srgbClr val="FF6B6B"/>
            </a:solidFill>
            <a:prstDash val="solid"/>
          </a:ln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063240"/>
            <a:ext cx="1005840" cy="8229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57200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Zapier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57200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Conecta apps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código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633472" y="2834640"/>
            <a:ext cx="196596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2926080" y="2971800"/>
            <a:ext cx="1371600" cy="1005840"/>
          </a:xfrm>
          <a:prstGeom prst="ellipse">
            <a:avLst/>
          </a:prstGeom>
          <a:solidFill>
            <a:srgbClr val="7B61FF">
              <a:alpha val="15000"/>
            </a:srgbClr>
          </a:solidFill>
          <a:ln w="19050">
            <a:solidFill>
              <a:srgbClr val="7B61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0672" y="3063240"/>
            <a:ext cx="1005840" cy="8229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2633472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Make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2633472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visuais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complexos</a:t>
            </a:r>
            <a:endParaRPr lang="en-US" sz="1100" dirty="0"/>
          </a:p>
        </p:txBody>
      </p:sp>
      <p:sp>
        <p:nvSpPr>
          <p:cNvPr id="23" name="Shape 18"/>
          <p:cNvSpPr/>
          <p:nvPr/>
        </p:nvSpPr>
        <p:spPr>
          <a:xfrm>
            <a:off x="4809744" y="2834640"/>
            <a:ext cx="196596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5102352" y="2971800"/>
            <a:ext cx="1371600" cy="1005840"/>
          </a:xfrm>
          <a:prstGeom prst="ellipse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6944" y="3063240"/>
            <a:ext cx="1005840" cy="82296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4809744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Power Automate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4809744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Ecossistema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365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6986016" y="2834640"/>
            <a:ext cx="1965960" cy="201168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7278624" y="2971800"/>
            <a:ext cx="1371600" cy="1005840"/>
          </a:xfrm>
          <a:prstGeom prst="ellipse">
            <a:avLst/>
          </a:prstGeom>
          <a:solidFill>
            <a:srgbClr val="06D6A0">
              <a:alpha val="15000"/>
            </a:srgbClr>
          </a:solidFill>
          <a:ln w="19050">
            <a:solidFill>
              <a:srgbClr val="06D6A0"/>
            </a:solidFill>
            <a:prstDash val="solid"/>
          </a:ln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3216" y="3063240"/>
            <a:ext cx="1005840" cy="8229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6986016" y="4041648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Apps Script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6986016" y="434340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</a:t>
            </a:r>
            <a:endParaRPr lang="en-US" sz="1100" dirty="0"/>
          </a:p>
        </p:txBody>
      </p:sp>
      <p:sp>
        <p:nvSpPr>
          <p:cNvPr id="33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D10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1371600"/>
            <a:ext cx="4114800" cy="4114800"/>
          </a:xfrm>
          <a:prstGeom prst="ellipse">
            <a:avLst/>
          </a:prstGeom>
          <a:solidFill>
            <a:srgbClr val="7B61FF">
              <a:alpha val="9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Fluxos e Processos com 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10 — Documentação, POPs e mapeamento de processos</a:t>
            </a:r>
            <a:endParaRPr lang="en-US" sz="16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502920"/>
            <a:ext cx="1371600" cy="1371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57200" y="1371600"/>
            <a:ext cx="502920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1444752"/>
            <a:ext cx="46634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DO POP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40080" y="1874520"/>
            <a:ext cx="228600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05840" y="187452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Título e código do documento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640080" y="2249424"/>
            <a:ext cx="228600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05840" y="224942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Objetivo do processo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40080" y="2624328"/>
            <a:ext cx="228600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005840" y="262432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Abrangência (quem participa)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40080" y="2999232"/>
            <a:ext cx="228600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1005840" y="2999232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Responsável principal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640080" y="3374136"/>
            <a:ext cx="228600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05840" y="3374136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Materiais e sistemas necessários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640080" y="3749040"/>
            <a:ext cx="228600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05840" y="374904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Passo a passo detalhado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40080" y="4123944"/>
            <a:ext cx="228600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005840" y="4123944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Pontos de atenção e erros comuns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640080" y="4498848"/>
            <a:ext cx="228600" cy="27432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005840" y="4498848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Registros e evidências necessários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5760720" y="1371600"/>
            <a:ext cx="292608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5943600" y="1444752"/>
            <a:ext cx="25603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ÁREAS PRIORITÁRIAS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5943600" y="189280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RH — Admissão / Onboarding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5943600" y="242316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Financeiro — Fechamento mensal</a:t>
            </a:r>
            <a:endParaRPr lang="en-US" sz="1200" dirty="0"/>
          </a:p>
        </p:txBody>
      </p:sp>
      <p:sp>
        <p:nvSpPr>
          <p:cNvPr id="30" name="Text 27"/>
          <p:cNvSpPr/>
          <p:nvPr/>
        </p:nvSpPr>
        <p:spPr>
          <a:xfrm>
            <a:off x="5943600" y="295351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Compras — Cotação e aprovação</a:t>
            </a:r>
            <a:endParaRPr lang="en-US" sz="1200" dirty="0"/>
          </a:p>
        </p:txBody>
      </p:sp>
      <p:sp>
        <p:nvSpPr>
          <p:cNvPr id="31" name="Text 28"/>
          <p:cNvSpPr/>
          <p:nvPr/>
        </p:nvSpPr>
        <p:spPr>
          <a:xfrm>
            <a:off x="5943600" y="3483864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Atendimento — Escalada de chamados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5943600" y="4014216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Operações — Abertura/fechamento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80D0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914400"/>
            <a:ext cx="4572000" cy="4572000"/>
          </a:xfrm>
          <a:prstGeom prst="ellipse">
            <a:avLst/>
          </a:prstGeom>
          <a:solidFill>
            <a:srgbClr val="06D6A0">
              <a:alpha val="9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6400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APLICAÇÕES PRÁTICAS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457200" y="1252728"/>
            <a:ext cx="6400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por Área Administrativa</a:t>
            </a:r>
            <a:endParaRPr lang="en-US" sz="30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731520"/>
            <a:ext cx="1371600" cy="1371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18745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Exemplos reais e prompts prontos para cada setor da empresa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" y="256032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57200" y="256032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291840" y="256032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3291840" y="256032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Financeiro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6126480" y="256032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126480" y="256032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Compras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457200" y="388620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57200" y="38862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6B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Atendimento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3291840" y="388620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3291840" y="38862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Secretaria</a:t>
            </a:r>
            <a:endParaRPr lang="en-US" sz="1800" dirty="0"/>
          </a:p>
        </p:txBody>
      </p:sp>
      <p:sp>
        <p:nvSpPr>
          <p:cNvPr id="19" name="Shape 16"/>
          <p:cNvSpPr/>
          <p:nvPr/>
        </p:nvSpPr>
        <p:spPr>
          <a:xfrm>
            <a:off x="6126480" y="3886200"/>
            <a:ext cx="2606040" cy="105156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6126480" y="3886200"/>
            <a:ext cx="2606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Operações</a:t>
            </a:r>
            <a:endParaRPr lang="en-US" sz="1800" dirty="0"/>
          </a:p>
        </p:txBody>
      </p:sp>
      <p:sp>
        <p:nvSpPr>
          <p:cNvPr id="21" name="Text 18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RH e Financeiro com 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11.1 — Prompts prontos para os dois setores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840480" cy="438912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👥  RECURSOS HUMANOS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901952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Description completa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2350008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225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entrevista comportamental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2798064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70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onboarding (4 semanas)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3246120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186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clima (15 perguntas)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3694176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667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Comunicados de RH em minutos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4142232"/>
            <a:ext cx="182880" cy="182880"/>
          </a:xfrm>
          <a:prstGeom prst="ellipse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de admissão/demissão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325880"/>
            <a:ext cx="384048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325880"/>
            <a:ext cx="3840480" cy="438912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25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💰  FINANCEIRO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10912" y="1901952"/>
            <a:ext cx="182880" cy="18288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Categorização de despesas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10912" y="2350008"/>
            <a:ext cx="182880" cy="18288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3225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variação mensal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10912" y="2798064"/>
            <a:ext cx="182880" cy="18288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770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fluxo de caixa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10912" y="3246120"/>
            <a:ext cx="182880" cy="18288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2186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Projeção simples por tendência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10912" y="3694176"/>
            <a:ext cx="182880" cy="18288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6667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Fórmulas de DRE simplificado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10912" y="4142232"/>
            <a:ext cx="182880" cy="182880"/>
          </a:xfrm>
          <a:prstGeom prst="ellipse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 financeiro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11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Compras e Atendimento com 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11.2 — Aplicações de alto impacto nos dois setores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384048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3840480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🛒  COMPRAS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190195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cotação detalhado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1792" y="2350008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14400" y="23225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Tabela comparativa de fornecedores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1792" y="2798064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2770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de negociação de desconto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1792" y="3246120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2186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de avaliação de fornecedor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1792" y="3694176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36667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pedidos em planilha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1792" y="4142232"/>
            <a:ext cx="182880" cy="182880"/>
          </a:xfrm>
          <a:prstGeom prst="ellipse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histórico de compras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846320" y="1325880"/>
            <a:ext cx="3840480" cy="347472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846320" y="1325880"/>
            <a:ext cx="3840480" cy="438912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46320" y="1325880"/>
            <a:ext cx="38404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🎧  ATENDIMENTO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5010912" y="1901952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03520" y="187452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Script de atendimento telefônico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010912" y="2350008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303520" y="2322576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Respostas para top reclamações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5010912" y="2798064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303520" y="2770632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automatizado para WhatsApp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5010912" y="3246120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303520" y="3218688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de escalada de chamados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010912" y="3694176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03520" y="3666744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atendimento mensal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010912" y="4142232"/>
            <a:ext cx="182880" cy="18288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303520" y="4114800"/>
            <a:ext cx="3154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 de satisfação (NPS)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0" y="457200"/>
            <a:ext cx="3657600" cy="3657600"/>
          </a:xfrm>
          <a:prstGeom prst="ellipse">
            <a:avLst/>
          </a:prstGeom>
          <a:solidFill>
            <a:srgbClr val="06D6A0">
              <a:alpha val="10000"/>
            </a:srgbClr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Boas Práticas de Adoção da IA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 — Quando confiar, quando revisar, como criar o hábito</a:t>
            </a:r>
            <a:endParaRPr lang="en-US" sz="16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301752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Situação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Nível de Confiança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6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 Que Fazer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4E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E-mail de rotina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CONFIAR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Leitura rápida antes de enviar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Dados numéricos / datas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VERIFICAR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Checar cada número na fonte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Documento legal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🚫 REVISAR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Sempre passar pelo jurídico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Informação factual / lei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VERIFICAR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Confirmar na fonte oficial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Análise de dados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REVISAR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E8F1F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Verificar lógica e interpretação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457200" y="4526280"/>
            <a:ext cx="8229600" cy="411480"/>
          </a:xfrm>
          <a:prstGeom prst="rect">
            <a:avLst/>
          </a:prstGeom>
          <a:solidFill>
            <a:srgbClr val="091A09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" y="452628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DESAFIO: 5 tarefas com IA por semana durante 30 dias — o hábito se forma em 3 semanas!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20724" cy="274320"/>
          </a:xfrm>
          <a:prstGeom prst="roundRect">
            <a:avLst>
              <a:gd name="adj" fmla="val 16667"/>
            </a:avLst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228600"/>
            <a:ext cx="11292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Meu Plano Pessoal de Adoção de IA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12.2 — Próximos 30 dias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1148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SEMANA 1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92224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2688" y="17647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IA para escrever um e-mail real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249424"/>
            <a:ext cx="182880" cy="18288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2221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Usar IA para resumir um documento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325880"/>
            <a:ext cx="41148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800600" y="1325880"/>
            <a:ext cx="4114800" cy="365760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0600" y="13258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SEMANA 2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983480" y="1792224"/>
            <a:ext cx="182880" cy="182880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76088" y="17647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ou melhorar uma planilha com IA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983480" y="2249424"/>
            <a:ext cx="182880" cy="182880"/>
          </a:xfrm>
          <a:prstGeom prst="rect">
            <a:avLst/>
          </a:prstGeom>
          <a:solidFill>
            <a:srgbClr val="F4A400"/>
          </a:solidFill>
          <a:ln w="12700">
            <a:solidFill>
              <a:srgbClr val="F4A4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76088" y="22219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Explorar uma função nova da ferramenta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154680"/>
            <a:ext cx="41148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3154680"/>
            <a:ext cx="4114800" cy="36576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SEMANA 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3621024"/>
            <a:ext cx="182880" cy="1828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32688" y="35935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 um processo da sua área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4078224"/>
            <a:ext cx="182880" cy="182880"/>
          </a:xfrm>
          <a:prstGeom prst="rect">
            <a:avLst/>
          </a:prstGeom>
          <a:solidFill>
            <a:srgbClr val="7B61FF"/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32688" y="40507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Criar template de prompt para rotina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3154680"/>
            <a:ext cx="4114800" cy="16002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800600" y="3154680"/>
            <a:ext cx="4114800" cy="36576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3154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11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SEMANA 4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983480" y="3621024"/>
            <a:ext cx="182880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76088" y="35935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Apresentar resultado para a equipe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983480" y="4078224"/>
            <a:ext cx="182880" cy="182880"/>
          </a:xfrm>
          <a:prstGeom prst="rect">
            <a:avLst/>
          </a:prstGeom>
          <a:solidFill>
            <a:srgbClr val="06D6A0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276088" y="4050792"/>
            <a:ext cx="3383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F1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Calcular tempo economizado no mês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5486400" cy="5486400"/>
          </a:xfrm>
          <a:prstGeom prst="ellipse">
            <a:avLst/>
          </a:prstGeom>
          <a:solidFill>
            <a:srgbClr val="1A4E8C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1828800"/>
            <a:ext cx="4572000" cy="4572000"/>
          </a:xfrm>
          <a:prstGeom prst="ellipse">
            <a:avLst/>
          </a:prstGeom>
          <a:solidFill>
            <a:srgbClr val="7B61FF">
              <a:alpha val="10000"/>
            </a:srgbClr>
          </a:solidFill>
          <a:ln w="12700">
            <a:solidFill>
              <a:srgbClr val="7B61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VOCÊ CHEGOU ATÉ AQUI.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Agora é hora de usar.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457200" y="2011680"/>
            <a:ext cx="19659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22960" y="2121408"/>
            <a:ext cx="1234440" cy="914400"/>
          </a:xfrm>
          <a:prstGeom prst="ellipse">
            <a:avLst/>
          </a:prstGeom>
          <a:solidFill>
            <a:srgbClr val="00B4D8">
              <a:alpha val="15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121408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57200" y="3127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Abra a ferramenta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 mesmo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633472" y="2011680"/>
            <a:ext cx="19659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999232" y="2121408"/>
            <a:ext cx="1234440" cy="914400"/>
          </a:xfrm>
          <a:prstGeom prst="ellipse">
            <a:avLst/>
          </a:prstGeom>
          <a:solidFill>
            <a:srgbClr val="F4A400">
              <a:alpha val="15000"/>
            </a:srgbClr>
          </a:solidFill>
          <a:ln w="19050">
            <a:solidFill>
              <a:srgbClr val="F4A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99232" y="2121408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4A4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2633472" y="3127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Use em 1 tarefa real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33472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4A4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809744" y="2011680"/>
            <a:ext cx="19659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175504" y="2121408"/>
            <a:ext cx="1234440" cy="914400"/>
          </a:xfrm>
          <a:prstGeom prst="ellipse">
            <a:avLst/>
          </a:prstGeom>
          <a:solidFill>
            <a:srgbClr val="06D6A0">
              <a:alpha val="15000"/>
            </a:srgbClr>
          </a:solidFill>
          <a:ln w="19050">
            <a:solidFill>
              <a:srgbClr val="06D6A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75504" y="2121408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6D6A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4809744" y="3127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Mostre para um colega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9744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6D6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mês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986016" y="2011680"/>
            <a:ext cx="1965960" cy="1828800"/>
          </a:xfrm>
          <a:prstGeom prst="rect">
            <a:avLst/>
          </a:prstGeom>
          <a:solidFill>
            <a:srgbClr val="162032"/>
          </a:solidFill>
          <a:ln w="12700">
            <a:solidFill>
              <a:srgbClr val="1E3A5F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51776" y="2121408"/>
            <a:ext cx="1234440" cy="914400"/>
          </a:xfrm>
          <a:prstGeom prst="ellipse">
            <a:avLst/>
          </a:prstGeom>
          <a:solidFill>
            <a:srgbClr val="7B61FF">
              <a:alpha val="15000"/>
            </a:srgbClr>
          </a:solidFill>
          <a:ln w="19050">
            <a:solidFill>
              <a:srgbClr val="7B61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51776" y="2121408"/>
            <a:ext cx="1234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7B61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6986016" y="3127248"/>
            <a:ext cx="1965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Torne-se referência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986016" y="34564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7B61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30 dias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para o Administrativo: Do Básico ao Prático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57200" y="44988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3A6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IA não é o futuro — é o presente. Bem-vindo à nova forma de trabalhar.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50392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3A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2057</Words>
  <Application>Microsoft Office PowerPoint</Application>
  <PresentationFormat>Apresentação na tela (16:9)</PresentationFormat>
  <Paragraphs>477</Paragraphs>
  <Slides>30</Slides>
  <Notes>30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30</vt:i4>
      </vt:variant>
    </vt:vector>
  </HeadingPairs>
  <TitlesOfParts>
    <vt:vector size="34" baseType="lpstr">
      <vt:lpstr>Arial</vt:lpstr>
      <vt:lpstr>Calibri</vt:lpstr>
      <vt:lpstr>Trebuchet MS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 para o Administrativo</dc:title>
  <dc:subject>PptxGenJS Presentation</dc:subject>
  <dc:creator>PptxGenJS</dc:creator>
  <cp:lastModifiedBy>Alisson Beling</cp:lastModifiedBy>
  <cp:revision>1</cp:revision>
  <dcterms:created xsi:type="dcterms:W3CDTF">2026-06-01T20:06:31Z</dcterms:created>
  <dcterms:modified xsi:type="dcterms:W3CDTF">2026-06-02T14:46:15Z</dcterms:modified>
</cp:coreProperties>
</file>