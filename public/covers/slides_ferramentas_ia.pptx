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charts/chart1.xml" ContentType="application/vnd.openxmlformats-officedocument.drawingml.chart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460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7A8FA6"/>
                </a:solidFill>
                <a:latin typeface="Arial"/>
              </a:defRPr>
            </a:pPr>
            <a:r>
              <a:rPr sz="1100" b="0" i="0" u="none" strike="noStrike">
                <a:solidFill>
                  <a:srgbClr val="7A8FA6"/>
                </a:solidFill>
                <a:latin typeface="Arial"/>
              </a:rPr>
              <a:t>Minutos Economizados por Dia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Tempo economizado por ferramenta (min/dia)</c:v>
                </c:pt>
              </c:strCache>
            </c:strRef>
          </c:tx>
          <c:spPr>
            <a:solidFill>
              <a:srgbClr val="00C2D4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F4F8-4AE5-B37F-419C37E4AF72}"/>
              </c:ext>
            </c:extLst>
          </c:dPt>
          <c:dPt>
            <c:idx val="1"/>
            <c:invertIfNegative val="0"/>
            <c:bubble3D val="0"/>
            <c:spPr>
              <a:solidFill>
                <a:srgbClr val="F5A62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F4F8-4AE5-B37F-419C37E4AF72}"/>
              </c:ext>
            </c:extLst>
          </c:dPt>
          <c:dPt>
            <c:idx val="2"/>
            <c:invertIfNegative val="0"/>
            <c:bubble3D val="0"/>
            <c:spPr>
              <a:solidFill>
                <a:srgbClr val="00D49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F4F8-4AE5-B37F-419C37E4AF72}"/>
              </c:ext>
            </c:extLst>
          </c:dPt>
          <c:dPt>
            <c:idx val="3"/>
            <c:invertIfNegative val="0"/>
            <c:bubble3D val="0"/>
            <c:spPr>
              <a:solidFill>
                <a:srgbClr val="0D94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F4F8-4AE5-B37F-419C37E4AF72}"/>
              </c:ext>
            </c:extLst>
          </c:dPt>
          <c:dPt>
            <c:idx val="4"/>
            <c:invertIfNegative val="0"/>
            <c:bubble3D val="0"/>
            <c:spPr>
              <a:solidFill>
                <a:srgbClr val="8B5CF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F4F8-4AE5-B37F-419C37E4AF72}"/>
              </c:ext>
            </c:extLst>
          </c:dPt>
          <c:dPt>
            <c:idx val="5"/>
            <c:invertIfNegative val="0"/>
            <c:bubble3D val="0"/>
            <c:spPr>
              <a:solidFill>
                <a:srgbClr val="F9731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F4F8-4AE5-B37F-419C37E4AF72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E-mail</c:v>
                </c:pt>
                <c:pt idx="1">
                  <c:v>Agenda</c:v>
                </c:pt>
                <c:pt idx="2">
                  <c:v>Tarefas</c:v>
                </c:pt>
                <c:pt idx="3">
                  <c:v>Planilhas</c:v>
                </c:pt>
                <c:pt idx="4">
                  <c:v>Documentos</c:v>
                </c:pt>
                <c:pt idx="5">
                  <c:v>Apresentações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90</c:v>
                </c:pt>
                <c:pt idx="1">
                  <c:v>45</c:v>
                </c:pt>
                <c:pt idx="2">
                  <c:v>40</c:v>
                </c:pt>
                <c:pt idx="3">
                  <c:v>55</c:v>
                </c:pt>
                <c:pt idx="4">
                  <c:v>65</c:v>
                </c:pt>
                <c:pt idx="5">
                  <c:v>80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F4F8-4AE5-B37F-419C37E4AF7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A8FA6"/>
                </a:solidFill>
                <a:latin typeface="Arial"/>
              </a:defRPr>
            </a:pPr>
            <a:endParaRPr lang="pt-BR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1E3A5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A8FA6"/>
                </a:solidFill>
                <a:latin typeface="Arial"/>
              </a:defRPr>
            </a:pPr>
            <a:endParaRPr lang="pt-BR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0F1C2E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17494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371600"/>
            <a:ext cx="5943600" cy="5943600"/>
          </a:xfrm>
          <a:prstGeom prst="ellipse">
            <a:avLst/>
          </a:prstGeom>
          <a:solidFill>
            <a:srgbClr val="00C2D4">
              <a:alpha val="7000"/>
            </a:srgbClr>
          </a:solidFill>
          <a:ln w="12700">
            <a:solidFill>
              <a:srgbClr val="00C2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2743200"/>
            <a:ext cx="4572000" cy="4572000"/>
          </a:xfrm>
          <a:prstGeom prst="ellipse">
            <a:avLst/>
          </a:prstGeom>
          <a:solidFill>
            <a:srgbClr val="8B5CF6">
              <a:alpha val="8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0" y="3200400"/>
            <a:ext cx="3200400" cy="3200400"/>
          </a:xfrm>
          <a:prstGeom prst="ellipse">
            <a:avLst/>
          </a:prstGeom>
          <a:solidFill>
            <a:srgbClr val="F5A623">
              <a:alpha val="7000"/>
            </a:srgbClr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822960"/>
            <a:ext cx="64008" cy="3291840"/>
          </a:xfrm>
          <a:prstGeom prst="rect">
            <a:avLst/>
          </a:prstGeom>
          <a:solidFill>
            <a:srgbClr val="00C2D4"/>
          </a:solidFill>
          <a:ln w="12700">
            <a:solidFill>
              <a:srgbClr val="00C2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914400"/>
            <a:ext cx="6400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IA NAS FERRAMENTAS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566928" y="1463040"/>
            <a:ext cx="6400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00C2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 DIA A DIA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566928" y="2231136"/>
            <a:ext cx="4572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Aplicado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66928" y="27249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A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E-mail · Agenda · Tarefas · Planilhas · Documentos · Apresentações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0040" y="3547872"/>
            <a:ext cx="1353312" cy="1389888"/>
          </a:xfrm>
          <a:prstGeom prst="rect">
            <a:avLst/>
          </a:prstGeom>
          <a:solidFill>
            <a:srgbClr val="0F1C2E"/>
          </a:solidFill>
          <a:ln w="19050">
            <a:solidFill>
              <a:srgbClr val="00C2D4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57784" y="3584448"/>
            <a:ext cx="548640" cy="548640"/>
          </a:xfrm>
          <a:prstGeom prst="ellipse">
            <a:avLst/>
          </a:prstGeom>
          <a:solidFill>
            <a:srgbClr val="00C2D4">
              <a:alpha val="17000"/>
            </a:srgbClr>
          </a:solidFill>
          <a:ln w="19050">
            <a:solidFill>
              <a:srgbClr val="00C2D4"/>
            </a:solidFill>
            <a:prstDash val="solid"/>
          </a:ln>
        </p:spPr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" y="3639312"/>
            <a:ext cx="438912" cy="438912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320040" y="4160520"/>
            <a:ext cx="13533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C2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E-mail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1764792" y="3547872"/>
            <a:ext cx="1353312" cy="1389888"/>
          </a:xfrm>
          <a:prstGeom prst="rect">
            <a:avLst/>
          </a:prstGeom>
          <a:solidFill>
            <a:srgbClr val="0F1C2E"/>
          </a:solidFill>
          <a:ln w="19050">
            <a:solidFill>
              <a:srgbClr val="F5A623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2002536" y="3584448"/>
            <a:ext cx="548640" cy="548640"/>
          </a:xfrm>
          <a:prstGeom prst="ellipse">
            <a:avLst/>
          </a:prstGeom>
          <a:solidFill>
            <a:srgbClr val="F5A623">
              <a:alpha val="17000"/>
            </a:srgbClr>
          </a:solidFill>
          <a:ln w="19050">
            <a:solidFill>
              <a:srgbClr val="F5A623"/>
            </a:solidFill>
            <a:prstDash val="solid"/>
          </a:ln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57400" y="3639312"/>
            <a:ext cx="438912" cy="438912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764792" y="4160520"/>
            <a:ext cx="13533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Agenda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3209544" y="3547872"/>
            <a:ext cx="1353312" cy="1389888"/>
          </a:xfrm>
          <a:prstGeom prst="rect">
            <a:avLst/>
          </a:prstGeom>
          <a:solidFill>
            <a:srgbClr val="0F1C2E"/>
          </a:solidFill>
          <a:ln w="19050">
            <a:solidFill>
              <a:srgbClr val="00D49A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3447288" y="3584448"/>
            <a:ext cx="548640" cy="548640"/>
          </a:xfrm>
          <a:prstGeom prst="ellipse">
            <a:avLst/>
          </a:prstGeom>
          <a:solidFill>
            <a:srgbClr val="00D49A">
              <a:alpha val="17000"/>
            </a:srgbClr>
          </a:solidFill>
          <a:ln w="19050">
            <a:solidFill>
              <a:srgbClr val="00D49A"/>
            </a:solidFill>
            <a:prstDash val="solid"/>
          </a:ln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02152" y="3639312"/>
            <a:ext cx="438912" cy="438912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3209544" y="4160520"/>
            <a:ext cx="13533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D4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Tarefas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4654296" y="3547872"/>
            <a:ext cx="1353312" cy="1389888"/>
          </a:xfrm>
          <a:prstGeom prst="rect">
            <a:avLst/>
          </a:prstGeom>
          <a:solidFill>
            <a:srgbClr val="0F1C2E"/>
          </a:solidFill>
          <a:ln w="19050">
            <a:solidFill>
              <a:srgbClr val="0D9488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4892040" y="3584448"/>
            <a:ext cx="548640" cy="548640"/>
          </a:xfrm>
          <a:prstGeom prst="ellipse">
            <a:avLst/>
          </a:prstGeom>
          <a:solidFill>
            <a:srgbClr val="0D9488">
              <a:alpha val="17000"/>
            </a:srgbClr>
          </a:solidFill>
          <a:ln w="19050">
            <a:solidFill>
              <a:srgbClr val="0D9488"/>
            </a:solidFill>
            <a:prstDash val="solid"/>
          </a:ln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46904" y="3639312"/>
            <a:ext cx="438912" cy="438912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4654296" y="4160520"/>
            <a:ext cx="13533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Planilhas</a:t>
            </a:r>
            <a:endParaRPr lang="en-US" sz="1100" dirty="0"/>
          </a:p>
        </p:txBody>
      </p:sp>
      <p:sp>
        <p:nvSpPr>
          <p:cNvPr id="26" name="Shape 20"/>
          <p:cNvSpPr/>
          <p:nvPr/>
        </p:nvSpPr>
        <p:spPr>
          <a:xfrm>
            <a:off x="6099048" y="3547872"/>
            <a:ext cx="1353312" cy="1389888"/>
          </a:xfrm>
          <a:prstGeom prst="rect">
            <a:avLst/>
          </a:prstGeom>
          <a:solidFill>
            <a:srgbClr val="0F1C2E"/>
          </a:solidFill>
          <a:ln w="19050">
            <a:solidFill>
              <a:srgbClr val="8B5CF6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6336792" y="3584448"/>
            <a:ext cx="548640" cy="548640"/>
          </a:xfrm>
          <a:prstGeom prst="ellipse">
            <a:avLst/>
          </a:prstGeom>
          <a:solidFill>
            <a:srgbClr val="8B5CF6">
              <a:alpha val="17000"/>
            </a:srgbClr>
          </a:solidFill>
          <a:ln w="19050">
            <a:solidFill>
              <a:srgbClr val="8B5CF6"/>
            </a:solidFill>
            <a:prstDash val="solid"/>
          </a:ln>
        </p:spPr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91656" y="3639312"/>
            <a:ext cx="438912" cy="438912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6099048" y="4160520"/>
            <a:ext cx="13533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Documentos</a:t>
            </a:r>
            <a:endParaRPr lang="en-US" sz="1100" dirty="0"/>
          </a:p>
        </p:txBody>
      </p:sp>
      <p:sp>
        <p:nvSpPr>
          <p:cNvPr id="30" name="Shape 23"/>
          <p:cNvSpPr/>
          <p:nvPr/>
        </p:nvSpPr>
        <p:spPr>
          <a:xfrm>
            <a:off x="7543800" y="3547872"/>
            <a:ext cx="1353312" cy="1389888"/>
          </a:xfrm>
          <a:prstGeom prst="rect">
            <a:avLst/>
          </a:prstGeom>
          <a:solidFill>
            <a:srgbClr val="0F1C2E"/>
          </a:solidFill>
          <a:ln w="19050">
            <a:solidFill>
              <a:srgbClr val="F97316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7781544" y="3584448"/>
            <a:ext cx="548640" cy="548640"/>
          </a:xfrm>
          <a:prstGeom prst="ellipse">
            <a:avLst/>
          </a:prstGeom>
          <a:solidFill>
            <a:srgbClr val="F97316">
              <a:alpha val="17000"/>
            </a:srgbClr>
          </a:solidFill>
          <a:ln w="19050">
            <a:solidFill>
              <a:srgbClr val="F97316"/>
            </a:solidFill>
            <a:prstDash val="solid"/>
          </a:ln>
        </p:spPr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36408" y="3639312"/>
            <a:ext cx="438912" cy="438912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7543800" y="4160520"/>
            <a:ext cx="13533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Apresentações</a:t>
            </a:r>
            <a:endParaRPr lang="en-US" sz="1100" dirty="0"/>
          </a:p>
        </p:txBody>
      </p:sp>
      <p:sp>
        <p:nvSpPr>
          <p:cNvPr id="34" name="Text 26"/>
          <p:cNvSpPr/>
          <p:nvPr/>
        </p:nvSpPr>
        <p:spPr>
          <a:xfrm>
            <a:off x="8503920" y="480060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243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1351483" cy="256032"/>
          </a:xfrm>
          <a:prstGeom prst="roundRect">
            <a:avLst>
              <a:gd name="adj" fmla="val 14286"/>
            </a:avLst>
          </a:prstGeom>
          <a:solidFill>
            <a:srgbClr val="00C2D4"/>
          </a:solidFill>
          <a:ln w="12700">
            <a:solidFill>
              <a:srgbClr val="00C2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126004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8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VISÃO GERAL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65760" y="475488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 Que Você Vai Aprender Neste Módulo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07899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00C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diretamente às ferramentas que você já usa todo dia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320040" y="1444752"/>
            <a:ext cx="2743200" cy="1664208"/>
          </a:xfrm>
          <a:prstGeom prst="rect">
            <a:avLst/>
          </a:prstGeom>
          <a:solidFill>
            <a:srgbClr val="0F1C2E"/>
          </a:solidFill>
          <a:ln w="12700">
            <a:solidFill>
              <a:srgbClr val="1E3A5F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20624" y="1499616"/>
            <a:ext cx="521208" cy="521208"/>
          </a:xfrm>
          <a:prstGeom prst="ellipse">
            <a:avLst/>
          </a:prstGeom>
          <a:solidFill>
            <a:srgbClr val="00C2D4">
              <a:alpha val="17000"/>
            </a:srgbClr>
          </a:solidFill>
          <a:ln w="19050">
            <a:solidFill>
              <a:srgbClr val="00C2D4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1554480"/>
            <a:ext cx="411480" cy="4114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51560" y="1581912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C2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E-mail com IA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75488" y="2057400"/>
            <a:ext cx="146304" cy="146304"/>
          </a:xfrm>
          <a:prstGeom prst="ellipse">
            <a:avLst/>
          </a:prstGeom>
          <a:solidFill>
            <a:srgbClr val="00C2D4"/>
          </a:solidFill>
          <a:ln w="12700">
            <a:solidFill>
              <a:srgbClr val="00C2D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13232" y="2029968"/>
            <a:ext cx="22128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D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Analisar e classificar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75488" y="2331720"/>
            <a:ext cx="146304" cy="146304"/>
          </a:xfrm>
          <a:prstGeom prst="ellipse">
            <a:avLst/>
          </a:prstGeom>
          <a:solidFill>
            <a:srgbClr val="00C2D4"/>
          </a:solidFill>
          <a:ln w="12700">
            <a:solidFill>
              <a:srgbClr val="00C2D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13232" y="2304288"/>
            <a:ext cx="22128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D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Redigir respostas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75488" y="2606040"/>
            <a:ext cx="146304" cy="146304"/>
          </a:xfrm>
          <a:prstGeom prst="ellipse">
            <a:avLst/>
          </a:prstGeom>
          <a:solidFill>
            <a:srgbClr val="00C2D4"/>
          </a:solidFill>
          <a:ln w="12700">
            <a:solidFill>
              <a:srgbClr val="00C2D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13232" y="2578608"/>
            <a:ext cx="22128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D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Detectar urgência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75488" y="2880360"/>
            <a:ext cx="146304" cy="146304"/>
          </a:xfrm>
          <a:prstGeom prst="ellipse">
            <a:avLst/>
          </a:prstGeom>
          <a:solidFill>
            <a:srgbClr val="00C2D4"/>
          </a:solidFill>
          <a:ln w="12700">
            <a:solidFill>
              <a:srgbClr val="00C2D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13232" y="2852928"/>
            <a:ext cx="22128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D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Triar por prioridade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3227832" y="1444752"/>
            <a:ext cx="2743200" cy="1664208"/>
          </a:xfrm>
          <a:prstGeom prst="rect">
            <a:avLst/>
          </a:prstGeom>
          <a:solidFill>
            <a:srgbClr val="0F1C2E"/>
          </a:solidFill>
          <a:ln w="12700">
            <a:solidFill>
              <a:srgbClr val="1E3A5F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3328416" y="1499616"/>
            <a:ext cx="521208" cy="521208"/>
          </a:xfrm>
          <a:prstGeom prst="ellipse">
            <a:avLst/>
          </a:prstGeom>
          <a:solidFill>
            <a:srgbClr val="F5A623">
              <a:alpha val="17000"/>
            </a:srgbClr>
          </a:solidFill>
          <a:ln w="19050">
            <a:solidFill>
              <a:srgbClr val="F5A623"/>
            </a:solidFill>
            <a:prstDash val="solid"/>
          </a:ln>
        </p:spPr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3280" y="1554480"/>
            <a:ext cx="411480" cy="41148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3959352" y="1581912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Agenda Inteligente</a:t>
            </a:r>
            <a:endParaRPr lang="en-US" sz="1250" dirty="0"/>
          </a:p>
        </p:txBody>
      </p:sp>
      <p:sp>
        <p:nvSpPr>
          <p:cNvPr id="22" name="Shape 18"/>
          <p:cNvSpPr/>
          <p:nvPr/>
        </p:nvSpPr>
        <p:spPr>
          <a:xfrm>
            <a:off x="3383280" y="2057400"/>
            <a:ext cx="146304" cy="146304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3621024" y="2029968"/>
            <a:ext cx="22128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D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Organizar por prioridade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3383280" y="2331720"/>
            <a:ext cx="146304" cy="146304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3621024" y="2304288"/>
            <a:ext cx="22128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D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Criar time-blocks</a:t>
            </a:r>
            <a:endParaRPr lang="en-US" sz="1100" dirty="0"/>
          </a:p>
        </p:txBody>
      </p:sp>
      <p:sp>
        <p:nvSpPr>
          <p:cNvPr id="26" name="Shape 22"/>
          <p:cNvSpPr/>
          <p:nvPr/>
        </p:nvSpPr>
        <p:spPr>
          <a:xfrm>
            <a:off x="3383280" y="2606040"/>
            <a:ext cx="146304" cy="146304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3621024" y="2578608"/>
            <a:ext cx="22128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D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Gerir conflitos</a:t>
            </a:r>
            <a:endParaRPr lang="en-US" sz="1100" dirty="0"/>
          </a:p>
        </p:txBody>
      </p:sp>
      <p:sp>
        <p:nvSpPr>
          <p:cNvPr id="28" name="Shape 24"/>
          <p:cNvSpPr/>
          <p:nvPr/>
        </p:nvSpPr>
        <p:spPr>
          <a:xfrm>
            <a:off x="3383280" y="2880360"/>
            <a:ext cx="146304" cy="146304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3621024" y="2852928"/>
            <a:ext cx="22128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D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Propor reagendamentos</a:t>
            </a:r>
            <a:endParaRPr lang="en-US" sz="1100" dirty="0"/>
          </a:p>
        </p:txBody>
      </p:sp>
      <p:sp>
        <p:nvSpPr>
          <p:cNvPr id="30" name="Shape 26"/>
          <p:cNvSpPr/>
          <p:nvPr/>
        </p:nvSpPr>
        <p:spPr>
          <a:xfrm>
            <a:off x="6135624" y="1444752"/>
            <a:ext cx="2743200" cy="1664208"/>
          </a:xfrm>
          <a:prstGeom prst="rect">
            <a:avLst/>
          </a:prstGeom>
          <a:solidFill>
            <a:srgbClr val="0F1C2E"/>
          </a:solidFill>
          <a:ln w="12700">
            <a:solidFill>
              <a:srgbClr val="1E3A5F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31" name="Shape 27"/>
          <p:cNvSpPr/>
          <p:nvPr/>
        </p:nvSpPr>
        <p:spPr>
          <a:xfrm>
            <a:off x="6236208" y="1499616"/>
            <a:ext cx="521208" cy="521208"/>
          </a:xfrm>
          <a:prstGeom prst="ellipse">
            <a:avLst/>
          </a:prstGeom>
          <a:solidFill>
            <a:srgbClr val="00D49A">
              <a:alpha val="17000"/>
            </a:srgbClr>
          </a:solidFill>
          <a:ln w="19050">
            <a:solidFill>
              <a:srgbClr val="00D49A"/>
            </a:solidFill>
            <a:prstDash val="solid"/>
          </a:ln>
        </p:spPr>
      </p:sp>
      <p:pic>
        <p:nvPicPr>
          <p:cNvPr id="3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91072" y="1554480"/>
            <a:ext cx="411480" cy="411480"/>
          </a:xfrm>
          <a:prstGeom prst="rect">
            <a:avLst/>
          </a:prstGeom>
        </p:spPr>
      </p:pic>
      <p:sp>
        <p:nvSpPr>
          <p:cNvPr id="33" name="Text 28"/>
          <p:cNvSpPr/>
          <p:nvPr/>
        </p:nvSpPr>
        <p:spPr>
          <a:xfrm>
            <a:off x="6867144" y="1581912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D4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Controle de Tarefas</a:t>
            </a:r>
            <a:endParaRPr lang="en-US" sz="1250" dirty="0"/>
          </a:p>
        </p:txBody>
      </p:sp>
      <p:sp>
        <p:nvSpPr>
          <p:cNvPr id="34" name="Shape 29"/>
          <p:cNvSpPr/>
          <p:nvPr/>
        </p:nvSpPr>
        <p:spPr>
          <a:xfrm>
            <a:off x="6291072" y="2057400"/>
            <a:ext cx="146304" cy="146304"/>
          </a:xfrm>
          <a:prstGeom prst="ellipse">
            <a:avLst/>
          </a:prstGeom>
          <a:solidFill>
            <a:srgbClr val="00D49A"/>
          </a:solidFill>
          <a:ln w="12700">
            <a:solidFill>
              <a:srgbClr val="00D49A"/>
            </a:solidFill>
            <a:prstDash val="solid"/>
          </a:ln>
        </p:spPr>
      </p:sp>
      <p:sp>
        <p:nvSpPr>
          <p:cNvPr id="35" name="Text 30"/>
          <p:cNvSpPr/>
          <p:nvPr/>
        </p:nvSpPr>
        <p:spPr>
          <a:xfrm>
            <a:off x="6528816" y="2029968"/>
            <a:ext cx="22128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D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Capturar e estruturar</a:t>
            </a:r>
            <a:endParaRPr lang="en-US" sz="1100" dirty="0"/>
          </a:p>
        </p:txBody>
      </p:sp>
      <p:sp>
        <p:nvSpPr>
          <p:cNvPr id="36" name="Shape 31"/>
          <p:cNvSpPr/>
          <p:nvPr/>
        </p:nvSpPr>
        <p:spPr>
          <a:xfrm>
            <a:off x="6291072" y="2331720"/>
            <a:ext cx="146304" cy="146304"/>
          </a:xfrm>
          <a:prstGeom prst="ellipse">
            <a:avLst/>
          </a:prstGeom>
          <a:solidFill>
            <a:srgbClr val="00D49A"/>
          </a:solidFill>
          <a:ln w="12700">
            <a:solidFill>
              <a:srgbClr val="00D49A"/>
            </a:solidFill>
            <a:prstDash val="solid"/>
          </a:ln>
        </p:spPr>
      </p:sp>
      <p:sp>
        <p:nvSpPr>
          <p:cNvPr id="37" name="Text 32"/>
          <p:cNvSpPr/>
          <p:nvPr/>
        </p:nvSpPr>
        <p:spPr>
          <a:xfrm>
            <a:off x="6528816" y="2304288"/>
            <a:ext cx="22128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D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deadlines</a:t>
            </a:r>
            <a:endParaRPr lang="en-US" sz="1100" dirty="0"/>
          </a:p>
        </p:txBody>
      </p:sp>
      <p:sp>
        <p:nvSpPr>
          <p:cNvPr id="38" name="Shape 33"/>
          <p:cNvSpPr/>
          <p:nvPr/>
        </p:nvSpPr>
        <p:spPr>
          <a:xfrm>
            <a:off x="6291072" y="2606040"/>
            <a:ext cx="146304" cy="146304"/>
          </a:xfrm>
          <a:prstGeom prst="ellipse">
            <a:avLst/>
          </a:prstGeom>
          <a:solidFill>
            <a:srgbClr val="00D49A"/>
          </a:solidFill>
          <a:ln w="12700">
            <a:solidFill>
              <a:srgbClr val="00D49A"/>
            </a:solidFill>
            <a:prstDash val="solid"/>
          </a:ln>
        </p:spPr>
      </p:sp>
      <p:sp>
        <p:nvSpPr>
          <p:cNvPr id="39" name="Text 34"/>
          <p:cNvSpPr/>
          <p:nvPr/>
        </p:nvSpPr>
        <p:spPr>
          <a:xfrm>
            <a:off x="6528816" y="2578608"/>
            <a:ext cx="22128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D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Delegar e rastrear</a:t>
            </a:r>
            <a:endParaRPr lang="en-US" sz="1100" dirty="0"/>
          </a:p>
        </p:txBody>
      </p:sp>
      <p:sp>
        <p:nvSpPr>
          <p:cNvPr id="40" name="Shape 35"/>
          <p:cNvSpPr/>
          <p:nvPr/>
        </p:nvSpPr>
        <p:spPr>
          <a:xfrm>
            <a:off x="6291072" y="2880360"/>
            <a:ext cx="146304" cy="146304"/>
          </a:xfrm>
          <a:prstGeom prst="ellipse">
            <a:avLst/>
          </a:prstGeom>
          <a:solidFill>
            <a:srgbClr val="00D49A"/>
          </a:solidFill>
          <a:ln w="12700">
            <a:solidFill>
              <a:srgbClr val="00D49A"/>
            </a:solidFill>
            <a:prstDash val="solid"/>
          </a:ln>
        </p:spPr>
      </p:sp>
      <p:sp>
        <p:nvSpPr>
          <p:cNvPr id="41" name="Text 36"/>
          <p:cNvSpPr/>
          <p:nvPr/>
        </p:nvSpPr>
        <p:spPr>
          <a:xfrm>
            <a:off x="6528816" y="2852928"/>
            <a:ext cx="22128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D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Gerar relatório</a:t>
            </a:r>
            <a:endParaRPr lang="en-US" sz="1100" dirty="0"/>
          </a:p>
        </p:txBody>
      </p:sp>
      <p:sp>
        <p:nvSpPr>
          <p:cNvPr id="42" name="Shape 37"/>
          <p:cNvSpPr/>
          <p:nvPr/>
        </p:nvSpPr>
        <p:spPr>
          <a:xfrm>
            <a:off x="320040" y="3273552"/>
            <a:ext cx="2743200" cy="1664208"/>
          </a:xfrm>
          <a:prstGeom prst="rect">
            <a:avLst/>
          </a:prstGeom>
          <a:solidFill>
            <a:srgbClr val="0F1C2E"/>
          </a:solidFill>
          <a:ln w="12700">
            <a:solidFill>
              <a:srgbClr val="1E3A5F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43" name="Shape 38"/>
          <p:cNvSpPr/>
          <p:nvPr/>
        </p:nvSpPr>
        <p:spPr>
          <a:xfrm>
            <a:off x="420624" y="3328416"/>
            <a:ext cx="521208" cy="521208"/>
          </a:xfrm>
          <a:prstGeom prst="ellipse">
            <a:avLst/>
          </a:prstGeom>
          <a:solidFill>
            <a:srgbClr val="0D9488">
              <a:alpha val="17000"/>
            </a:srgbClr>
          </a:solidFill>
          <a:ln w="19050">
            <a:solidFill>
              <a:srgbClr val="0D9488"/>
            </a:solidFill>
            <a:prstDash val="solid"/>
          </a:ln>
        </p:spPr>
      </p:sp>
      <p:pic>
        <p:nvPicPr>
          <p:cNvPr id="4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5488" y="3383280"/>
            <a:ext cx="411480" cy="411480"/>
          </a:xfrm>
          <a:prstGeom prst="rect">
            <a:avLst/>
          </a:prstGeom>
        </p:spPr>
      </p:pic>
      <p:sp>
        <p:nvSpPr>
          <p:cNvPr id="45" name="Text 39"/>
          <p:cNvSpPr/>
          <p:nvPr/>
        </p:nvSpPr>
        <p:spPr>
          <a:xfrm>
            <a:off x="1051560" y="3410712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Planilhas e Sumários</a:t>
            </a:r>
            <a:endParaRPr lang="en-US" sz="1250" dirty="0"/>
          </a:p>
        </p:txBody>
      </p:sp>
      <p:sp>
        <p:nvSpPr>
          <p:cNvPr id="46" name="Shape 40"/>
          <p:cNvSpPr/>
          <p:nvPr/>
        </p:nvSpPr>
        <p:spPr>
          <a:xfrm>
            <a:off x="475488" y="3886200"/>
            <a:ext cx="146304" cy="14630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7" name="Text 41"/>
          <p:cNvSpPr/>
          <p:nvPr/>
        </p:nvSpPr>
        <p:spPr>
          <a:xfrm>
            <a:off x="713232" y="3858768"/>
            <a:ext cx="22128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D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Criar estrutura</a:t>
            </a:r>
            <a:endParaRPr lang="en-US" sz="1100" dirty="0"/>
          </a:p>
        </p:txBody>
      </p:sp>
      <p:sp>
        <p:nvSpPr>
          <p:cNvPr id="48" name="Shape 42"/>
          <p:cNvSpPr/>
          <p:nvPr/>
        </p:nvSpPr>
        <p:spPr>
          <a:xfrm>
            <a:off x="475488" y="4160520"/>
            <a:ext cx="146304" cy="14630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9" name="Text 43"/>
          <p:cNvSpPr/>
          <p:nvPr/>
        </p:nvSpPr>
        <p:spPr>
          <a:xfrm>
            <a:off x="713232" y="4133088"/>
            <a:ext cx="22128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D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Gerar fórmulas</a:t>
            </a:r>
            <a:endParaRPr lang="en-US" sz="1100" dirty="0"/>
          </a:p>
        </p:txBody>
      </p:sp>
      <p:sp>
        <p:nvSpPr>
          <p:cNvPr id="50" name="Shape 44"/>
          <p:cNvSpPr/>
          <p:nvPr/>
        </p:nvSpPr>
        <p:spPr>
          <a:xfrm>
            <a:off x="475488" y="4434840"/>
            <a:ext cx="146304" cy="14630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1" name="Text 45"/>
          <p:cNvSpPr/>
          <p:nvPr/>
        </p:nvSpPr>
        <p:spPr>
          <a:xfrm>
            <a:off x="713232" y="4407408"/>
            <a:ext cx="22128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D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Sumário executivo</a:t>
            </a:r>
            <a:endParaRPr lang="en-US" sz="1100" dirty="0"/>
          </a:p>
        </p:txBody>
      </p:sp>
      <p:sp>
        <p:nvSpPr>
          <p:cNvPr id="52" name="Shape 46"/>
          <p:cNvSpPr/>
          <p:nvPr/>
        </p:nvSpPr>
        <p:spPr>
          <a:xfrm>
            <a:off x="475488" y="4709160"/>
            <a:ext cx="146304" cy="14630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3" name="Text 47"/>
          <p:cNvSpPr/>
          <p:nvPr/>
        </p:nvSpPr>
        <p:spPr>
          <a:xfrm>
            <a:off x="713232" y="4681728"/>
            <a:ext cx="22128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D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Analisar tendências</a:t>
            </a:r>
            <a:endParaRPr lang="en-US" sz="1100" dirty="0"/>
          </a:p>
        </p:txBody>
      </p:sp>
      <p:sp>
        <p:nvSpPr>
          <p:cNvPr id="54" name="Shape 48"/>
          <p:cNvSpPr/>
          <p:nvPr/>
        </p:nvSpPr>
        <p:spPr>
          <a:xfrm>
            <a:off x="3227832" y="3273552"/>
            <a:ext cx="2743200" cy="1664208"/>
          </a:xfrm>
          <a:prstGeom prst="rect">
            <a:avLst/>
          </a:prstGeom>
          <a:solidFill>
            <a:srgbClr val="0F1C2E"/>
          </a:solidFill>
          <a:ln w="12700">
            <a:solidFill>
              <a:srgbClr val="1E3A5F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55" name="Shape 49"/>
          <p:cNvSpPr/>
          <p:nvPr/>
        </p:nvSpPr>
        <p:spPr>
          <a:xfrm>
            <a:off x="3328416" y="3328416"/>
            <a:ext cx="521208" cy="521208"/>
          </a:xfrm>
          <a:prstGeom prst="ellipse">
            <a:avLst/>
          </a:prstGeom>
          <a:solidFill>
            <a:srgbClr val="8B5CF6">
              <a:alpha val="17000"/>
            </a:srgbClr>
          </a:solidFill>
          <a:ln w="19050">
            <a:solidFill>
              <a:srgbClr val="8B5CF6"/>
            </a:solidFill>
            <a:prstDash val="solid"/>
          </a:ln>
        </p:spPr>
      </p:sp>
      <p:pic>
        <p:nvPicPr>
          <p:cNvPr id="5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83280" y="3383280"/>
            <a:ext cx="411480" cy="411480"/>
          </a:xfrm>
          <a:prstGeom prst="rect">
            <a:avLst/>
          </a:prstGeom>
        </p:spPr>
      </p:pic>
      <p:sp>
        <p:nvSpPr>
          <p:cNvPr id="57" name="Text 50"/>
          <p:cNvSpPr/>
          <p:nvPr/>
        </p:nvSpPr>
        <p:spPr>
          <a:xfrm>
            <a:off x="3959352" y="3410712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Documentos e Relatórios</a:t>
            </a:r>
            <a:endParaRPr lang="en-US" sz="1250" dirty="0"/>
          </a:p>
        </p:txBody>
      </p:sp>
      <p:sp>
        <p:nvSpPr>
          <p:cNvPr id="58" name="Shape 51"/>
          <p:cNvSpPr/>
          <p:nvPr/>
        </p:nvSpPr>
        <p:spPr>
          <a:xfrm>
            <a:off x="3383280" y="3886200"/>
            <a:ext cx="146304" cy="146304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59" name="Text 52"/>
          <p:cNvSpPr/>
          <p:nvPr/>
        </p:nvSpPr>
        <p:spPr>
          <a:xfrm>
            <a:off x="3621024" y="3858768"/>
            <a:ext cx="22128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D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Resumir em segundos</a:t>
            </a:r>
            <a:endParaRPr lang="en-US" sz="1100" dirty="0"/>
          </a:p>
        </p:txBody>
      </p:sp>
      <p:sp>
        <p:nvSpPr>
          <p:cNvPr id="60" name="Shape 53"/>
          <p:cNvSpPr/>
          <p:nvPr/>
        </p:nvSpPr>
        <p:spPr>
          <a:xfrm>
            <a:off x="3383280" y="4160520"/>
            <a:ext cx="146304" cy="146304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61" name="Text 54"/>
          <p:cNvSpPr/>
          <p:nvPr/>
        </p:nvSpPr>
        <p:spPr>
          <a:xfrm>
            <a:off x="3621024" y="4133088"/>
            <a:ext cx="22128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D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Extrair insights</a:t>
            </a:r>
            <a:endParaRPr lang="en-US" sz="1100" dirty="0"/>
          </a:p>
        </p:txBody>
      </p:sp>
      <p:sp>
        <p:nvSpPr>
          <p:cNvPr id="62" name="Shape 55"/>
          <p:cNvSpPr/>
          <p:nvPr/>
        </p:nvSpPr>
        <p:spPr>
          <a:xfrm>
            <a:off x="3383280" y="4434840"/>
            <a:ext cx="146304" cy="146304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63" name="Text 56"/>
          <p:cNvSpPr/>
          <p:nvPr/>
        </p:nvSpPr>
        <p:spPr>
          <a:xfrm>
            <a:off x="3621024" y="4407408"/>
            <a:ext cx="22128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D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Criar minutas</a:t>
            </a:r>
            <a:endParaRPr lang="en-US" sz="1100" dirty="0"/>
          </a:p>
        </p:txBody>
      </p:sp>
      <p:sp>
        <p:nvSpPr>
          <p:cNvPr id="64" name="Shape 57"/>
          <p:cNvSpPr/>
          <p:nvPr/>
        </p:nvSpPr>
        <p:spPr>
          <a:xfrm>
            <a:off x="3383280" y="4709160"/>
            <a:ext cx="146304" cy="146304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65" name="Text 58"/>
          <p:cNvSpPr/>
          <p:nvPr/>
        </p:nvSpPr>
        <p:spPr>
          <a:xfrm>
            <a:off x="3621024" y="4681728"/>
            <a:ext cx="22128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D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Padronizar formato</a:t>
            </a:r>
            <a:endParaRPr lang="en-US" sz="1100" dirty="0"/>
          </a:p>
        </p:txBody>
      </p:sp>
      <p:sp>
        <p:nvSpPr>
          <p:cNvPr id="66" name="Shape 59"/>
          <p:cNvSpPr/>
          <p:nvPr/>
        </p:nvSpPr>
        <p:spPr>
          <a:xfrm>
            <a:off x="6135624" y="3273552"/>
            <a:ext cx="2743200" cy="1664208"/>
          </a:xfrm>
          <a:prstGeom prst="rect">
            <a:avLst/>
          </a:prstGeom>
          <a:solidFill>
            <a:srgbClr val="0F1C2E"/>
          </a:solidFill>
          <a:ln w="12700">
            <a:solidFill>
              <a:srgbClr val="1E3A5F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67" name="Shape 60"/>
          <p:cNvSpPr/>
          <p:nvPr/>
        </p:nvSpPr>
        <p:spPr>
          <a:xfrm>
            <a:off x="6236208" y="3328416"/>
            <a:ext cx="521208" cy="521208"/>
          </a:xfrm>
          <a:prstGeom prst="ellipse">
            <a:avLst/>
          </a:prstGeom>
          <a:solidFill>
            <a:srgbClr val="F97316">
              <a:alpha val="17000"/>
            </a:srgbClr>
          </a:solidFill>
          <a:ln w="19050">
            <a:solidFill>
              <a:srgbClr val="F97316"/>
            </a:solidFill>
            <a:prstDash val="solid"/>
          </a:ln>
        </p:spPr>
      </p:sp>
      <p:pic>
        <p:nvPicPr>
          <p:cNvPr id="6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91072" y="3383280"/>
            <a:ext cx="411480" cy="411480"/>
          </a:xfrm>
          <a:prstGeom prst="rect">
            <a:avLst/>
          </a:prstGeom>
        </p:spPr>
      </p:pic>
      <p:sp>
        <p:nvSpPr>
          <p:cNvPr id="69" name="Text 61"/>
          <p:cNvSpPr/>
          <p:nvPr/>
        </p:nvSpPr>
        <p:spPr>
          <a:xfrm>
            <a:off x="6867144" y="3410712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Apresentações e Roteiros</a:t>
            </a:r>
            <a:endParaRPr lang="en-US" sz="1250" dirty="0"/>
          </a:p>
        </p:txBody>
      </p:sp>
      <p:sp>
        <p:nvSpPr>
          <p:cNvPr id="70" name="Shape 62"/>
          <p:cNvSpPr/>
          <p:nvPr/>
        </p:nvSpPr>
        <p:spPr>
          <a:xfrm>
            <a:off x="6291072" y="3886200"/>
            <a:ext cx="146304" cy="146304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71" name="Text 63"/>
          <p:cNvSpPr/>
          <p:nvPr/>
        </p:nvSpPr>
        <p:spPr>
          <a:xfrm>
            <a:off x="6528816" y="3858768"/>
            <a:ext cx="22128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D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Estruturar narrativa</a:t>
            </a:r>
            <a:endParaRPr lang="en-US" sz="1100" dirty="0"/>
          </a:p>
        </p:txBody>
      </p:sp>
      <p:sp>
        <p:nvSpPr>
          <p:cNvPr id="72" name="Shape 64"/>
          <p:cNvSpPr/>
          <p:nvPr/>
        </p:nvSpPr>
        <p:spPr>
          <a:xfrm>
            <a:off x="6291072" y="4160520"/>
            <a:ext cx="146304" cy="146304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73" name="Text 65"/>
          <p:cNvSpPr/>
          <p:nvPr/>
        </p:nvSpPr>
        <p:spPr>
          <a:xfrm>
            <a:off x="6528816" y="4133088"/>
            <a:ext cx="22128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D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Criar roteiro</a:t>
            </a:r>
            <a:endParaRPr lang="en-US" sz="1100" dirty="0"/>
          </a:p>
        </p:txBody>
      </p:sp>
      <p:sp>
        <p:nvSpPr>
          <p:cNvPr id="74" name="Shape 66"/>
          <p:cNvSpPr/>
          <p:nvPr/>
        </p:nvSpPr>
        <p:spPr>
          <a:xfrm>
            <a:off x="6291072" y="4434840"/>
            <a:ext cx="146304" cy="146304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75" name="Text 67"/>
          <p:cNvSpPr/>
          <p:nvPr/>
        </p:nvSpPr>
        <p:spPr>
          <a:xfrm>
            <a:off x="6528816" y="4407408"/>
            <a:ext cx="22128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D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Gerar conteúdo por slide</a:t>
            </a:r>
            <a:endParaRPr lang="en-US" sz="1100" dirty="0"/>
          </a:p>
        </p:txBody>
      </p:sp>
      <p:sp>
        <p:nvSpPr>
          <p:cNvPr id="76" name="Shape 68"/>
          <p:cNvSpPr/>
          <p:nvPr/>
        </p:nvSpPr>
        <p:spPr>
          <a:xfrm>
            <a:off x="6291072" y="4709160"/>
            <a:ext cx="146304" cy="146304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77" name="Text 69"/>
          <p:cNvSpPr/>
          <p:nvPr/>
        </p:nvSpPr>
        <p:spPr>
          <a:xfrm>
            <a:off x="6528816" y="4681728"/>
            <a:ext cx="22128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D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Preparar apresentador</a:t>
            </a:r>
            <a:endParaRPr lang="en-US" sz="1100" dirty="0"/>
          </a:p>
        </p:txBody>
      </p:sp>
      <p:sp>
        <p:nvSpPr>
          <p:cNvPr id="78" name="Text 70"/>
          <p:cNvSpPr/>
          <p:nvPr/>
        </p:nvSpPr>
        <p:spPr>
          <a:xfrm>
            <a:off x="8503920" y="480060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243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C1A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457200"/>
            <a:ext cx="5029200" cy="5029200"/>
          </a:xfrm>
          <a:prstGeom prst="ellipse">
            <a:avLst/>
          </a:prstGeom>
          <a:solidFill>
            <a:srgbClr val="00C2D4">
              <a:alpha val="9000"/>
            </a:srgbClr>
          </a:solidFill>
          <a:ln w="12700">
            <a:solidFill>
              <a:srgbClr val="00C2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2426818" cy="256032"/>
          </a:xfrm>
          <a:prstGeom prst="roundRect">
            <a:avLst>
              <a:gd name="adj" fmla="val 14286"/>
            </a:avLst>
          </a:prstGeom>
          <a:solidFill>
            <a:srgbClr val="00C2D4"/>
          </a:solidFill>
          <a:ln w="12700">
            <a:solidFill>
              <a:srgbClr val="00C2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0"/>
            <a:ext cx="233537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8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1 — E-MAIL COM IA</a:t>
            </a:r>
            <a:endParaRPr lang="en-US" sz="9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457200"/>
            <a:ext cx="1645920" cy="1645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640080"/>
            <a:ext cx="6400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E-MAIL</a:t>
            </a:r>
            <a:endParaRPr lang="en-US" sz="5200" dirty="0"/>
          </a:p>
        </p:txBody>
      </p:sp>
      <p:sp>
        <p:nvSpPr>
          <p:cNvPr id="7" name="Text 4"/>
          <p:cNvSpPr/>
          <p:nvPr/>
        </p:nvSpPr>
        <p:spPr>
          <a:xfrm>
            <a:off x="365760" y="1298448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C2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 Inteligência Artificial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365760" y="19202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Analise, priorize e responda e-mails 5× mais rápido com prompts estruturados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320040" y="2606040"/>
            <a:ext cx="2011680" cy="1828800"/>
          </a:xfrm>
          <a:prstGeom prst="rect">
            <a:avLst/>
          </a:prstGeom>
          <a:solidFill>
            <a:srgbClr val="0F1C2E"/>
          </a:solidFill>
          <a:ln w="12700">
            <a:solidFill>
              <a:srgbClr val="1E3A5F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86384" y="2688336"/>
            <a:ext cx="612648" cy="612648"/>
          </a:xfrm>
          <a:prstGeom prst="ellipse">
            <a:avLst/>
          </a:prstGeom>
          <a:solidFill>
            <a:srgbClr val="00C2D4">
              <a:alpha val="17000"/>
            </a:srgbClr>
          </a:solidFill>
          <a:ln w="19050">
            <a:solidFill>
              <a:srgbClr val="00C2D4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" y="2743200"/>
            <a:ext cx="502920" cy="5029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20040" y="3364992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0C2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Triagem &amp; Classificação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2496312" y="2606040"/>
            <a:ext cx="2011680" cy="1828800"/>
          </a:xfrm>
          <a:prstGeom prst="rect">
            <a:avLst/>
          </a:prstGeom>
          <a:solidFill>
            <a:srgbClr val="0F1C2E"/>
          </a:solidFill>
          <a:ln w="12700">
            <a:solidFill>
              <a:srgbClr val="1E3A5F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2962656" y="2688336"/>
            <a:ext cx="612648" cy="612648"/>
          </a:xfrm>
          <a:prstGeom prst="ellipse">
            <a:avLst/>
          </a:prstGeom>
          <a:solidFill>
            <a:srgbClr val="FF5F5F">
              <a:alpha val="17000"/>
            </a:srgbClr>
          </a:solidFill>
          <a:ln w="19050">
            <a:solidFill>
              <a:srgbClr val="FF5F5F"/>
            </a:solidFill>
            <a:prstDash val="solid"/>
          </a:ln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17520" y="2743200"/>
            <a:ext cx="502920" cy="50292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2496312" y="3364992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5F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Detectar Urgência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4672584" y="2606040"/>
            <a:ext cx="2011680" cy="1828800"/>
          </a:xfrm>
          <a:prstGeom prst="rect">
            <a:avLst/>
          </a:prstGeom>
          <a:solidFill>
            <a:srgbClr val="0F1C2E"/>
          </a:solidFill>
          <a:ln w="12700">
            <a:solidFill>
              <a:srgbClr val="1E3A5F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5138928" y="2688336"/>
            <a:ext cx="612648" cy="612648"/>
          </a:xfrm>
          <a:prstGeom prst="ellipse">
            <a:avLst/>
          </a:prstGeom>
          <a:solidFill>
            <a:srgbClr val="00D49A">
              <a:alpha val="17000"/>
            </a:srgbClr>
          </a:solidFill>
          <a:ln w="19050">
            <a:solidFill>
              <a:srgbClr val="00D49A"/>
            </a:solidFill>
            <a:prstDash val="solid"/>
          </a:ln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93792" y="2743200"/>
            <a:ext cx="502920" cy="50292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4672584" y="3364992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0D4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Redigir Respostas</a:t>
            </a:r>
            <a:endParaRPr lang="en-US" sz="1250" dirty="0"/>
          </a:p>
        </p:txBody>
      </p:sp>
      <p:sp>
        <p:nvSpPr>
          <p:cNvPr id="21" name="Shape 15"/>
          <p:cNvSpPr/>
          <p:nvPr/>
        </p:nvSpPr>
        <p:spPr>
          <a:xfrm>
            <a:off x="6848856" y="2606040"/>
            <a:ext cx="2011680" cy="1828800"/>
          </a:xfrm>
          <a:prstGeom prst="rect">
            <a:avLst/>
          </a:prstGeom>
          <a:solidFill>
            <a:srgbClr val="0F1C2E"/>
          </a:solidFill>
          <a:ln w="12700">
            <a:solidFill>
              <a:srgbClr val="1E3A5F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7315200" y="2688336"/>
            <a:ext cx="612648" cy="612648"/>
          </a:xfrm>
          <a:prstGeom prst="ellipse">
            <a:avLst/>
          </a:prstGeom>
          <a:solidFill>
            <a:srgbClr val="F5A623">
              <a:alpha val="17000"/>
            </a:srgbClr>
          </a:solidFill>
          <a:ln w="19050">
            <a:solidFill>
              <a:srgbClr val="F5A623"/>
            </a:solidFill>
            <a:prstDash val="solid"/>
          </a:ln>
        </p:spPr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70064" y="2743200"/>
            <a:ext cx="502920" cy="50292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6848856" y="3364992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Acompanhamento</a:t>
            </a:r>
            <a:endParaRPr lang="en-US" sz="1250" dirty="0"/>
          </a:p>
        </p:txBody>
      </p:sp>
      <p:sp>
        <p:nvSpPr>
          <p:cNvPr id="25" name="Text 18"/>
          <p:cNvSpPr/>
          <p:nvPr/>
        </p:nvSpPr>
        <p:spPr>
          <a:xfrm>
            <a:off x="8503920" y="480060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243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914400"/>
            <a:ext cx="2695651" cy="256032"/>
          </a:xfrm>
          <a:prstGeom prst="roundRect">
            <a:avLst>
              <a:gd name="adj" fmla="val 14286"/>
            </a:avLst>
          </a:prstGeom>
          <a:solidFill>
            <a:srgbClr val="00C2D4"/>
          </a:solidFill>
          <a:ln w="12700">
            <a:solidFill>
              <a:srgbClr val="00C2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260421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8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E-MAIL — TRIAGEM &amp; ANÁLISE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65760" y="475488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Classificando e-mails com IA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5760" y="107899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00C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1.1 — Do caos da caixa de entrada à prioridade clara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320040" y="1417320"/>
            <a:ext cx="4023360" cy="3493008"/>
          </a:xfrm>
          <a:prstGeom prst="rect">
            <a:avLst/>
          </a:prstGeom>
          <a:solidFill>
            <a:srgbClr val="0F1C2E"/>
          </a:solidFill>
          <a:ln w="12700">
            <a:solidFill>
              <a:srgbClr val="1E3A5F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417320"/>
            <a:ext cx="4023360" cy="384048"/>
          </a:xfrm>
          <a:prstGeom prst="rect">
            <a:avLst/>
          </a:prstGeom>
          <a:solidFill>
            <a:srgbClr val="00C2D4"/>
          </a:solidFill>
          <a:ln w="12700">
            <a:solidFill>
              <a:srgbClr val="00C2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417320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80E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MATRIZ DE TRIAGEM POR IA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11480" y="1920240"/>
            <a:ext cx="3822192" cy="658368"/>
          </a:xfrm>
          <a:prstGeom prst="rect">
            <a:avLst/>
          </a:prstGeom>
          <a:solidFill>
            <a:srgbClr val="1A0808"/>
          </a:solidFill>
          <a:ln w="12700">
            <a:solidFill>
              <a:srgbClr val="FF5F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94767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5F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🔴 URGENTE + IMPORTANTE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216712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Requer resposta em &lt; 2h  ·  IA sugere resposta imediata  ·  Destaque na agenda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11480" y="2651760"/>
            <a:ext cx="3822192" cy="658368"/>
          </a:xfrm>
          <a:prstGeom prst="rect">
            <a:avLst/>
          </a:prstGeom>
          <a:solidFill>
            <a:srgbClr val="1A1400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67919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🟡 IMPORTANTE (sem urgência)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" y="289864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agenda para hoje  ·  Bloqueio de tempo sugerido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11480" y="3383280"/>
            <a:ext cx="3822192" cy="658368"/>
          </a:xfrm>
          <a:prstGeom prst="rect">
            <a:avLst/>
          </a:prstGeom>
          <a:solidFill>
            <a:srgbClr val="080F1A"/>
          </a:solidFill>
          <a:ln w="12700">
            <a:solidFill>
              <a:srgbClr val="00C2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341071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2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🔵 INFORMATIVO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" y="363016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cria resumo em 1 linha  ·  Arquivamento sugerido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11480" y="4114800"/>
            <a:ext cx="3822192" cy="658368"/>
          </a:xfrm>
          <a:prstGeom prst="rect">
            <a:avLst/>
          </a:prstGeom>
          <a:solidFill>
            <a:srgbClr val="101010"/>
          </a:solidFill>
          <a:ln w="12700">
            <a:solidFill>
              <a:srgbClr val="7A8FA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414223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A8F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⬜ PODE DELEGAR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2920" y="436168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identifica responsável  ·  Sugere encaminhamento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26280" y="1417320"/>
            <a:ext cx="4315968" cy="3493008"/>
          </a:xfrm>
          <a:prstGeom prst="rect">
            <a:avLst/>
          </a:prstGeom>
          <a:solidFill>
            <a:srgbClr val="060D18"/>
          </a:solidFill>
          <a:ln w="19050">
            <a:solidFill>
              <a:srgbClr val="00C2D4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26280" y="1417320"/>
            <a:ext cx="4315968" cy="237744"/>
          </a:xfrm>
          <a:prstGeom prst="rect">
            <a:avLst/>
          </a:prstGeom>
          <a:solidFill>
            <a:srgbClr val="111E30"/>
          </a:solidFill>
          <a:ln w="12700">
            <a:solidFill>
              <a:srgbClr val="111E3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54296" y="1472184"/>
            <a:ext cx="128016" cy="128016"/>
          </a:xfrm>
          <a:prstGeom prst="ellipse">
            <a:avLst/>
          </a:prstGeom>
          <a:solidFill>
            <a:srgbClr val="FF5F5F"/>
          </a:solidFill>
          <a:ln w="12700">
            <a:solidFill>
              <a:srgbClr val="FF5F5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837176" y="1472184"/>
            <a:ext cx="128016" cy="128016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020056" y="1472184"/>
            <a:ext cx="128016" cy="128016"/>
          </a:xfrm>
          <a:prstGeom prst="ellipse">
            <a:avLst/>
          </a:prstGeom>
          <a:solidFill>
            <a:srgbClr val="00D49A"/>
          </a:solidFill>
          <a:ln w="12700">
            <a:solidFill>
              <a:srgbClr val="00D49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092440" y="1463040"/>
            <a:ext cx="6583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0C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4672584" y="1719072"/>
            <a:ext cx="405993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2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Prompt: Triagem de Caixa de Entrada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672584" y="1943100"/>
            <a:ext cx="405993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D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Analise os e-mails abaixo e classifique cada um em: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672584" y="2167128"/>
            <a:ext cx="405993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D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URGENTE / IMPORTANTE / INFORMATIVO / DELEGAR.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672584" y="2391156"/>
            <a:ext cx="405993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672584" y="2615184"/>
            <a:ext cx="405993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D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Para cada e-mail, indique: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672584" y="2839212"/>
            <a:ext cx="405993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D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Categoria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672584" y="3063240"/>
            <a:ext cx="405993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D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Prazo sugerido para resposta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672584" y="3287268"/>
            <a:ext cx="405993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D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Uma linha de contexto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672584" y="3511296"/>
            <a:ext cx="405993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D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Ação recomendada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672584" y="3735324"/>
            <a:ext cx="405993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672584" y="3959352"/>
            <a:ext cx="405993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6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Cole os e-mails abaixo: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672584" y="4183380"/>
            <a:ext cx="405993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D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[COLAR ASSUNTOS E REMETENTES]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8503920" y="480060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243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914400"/>
            <a:ext cx="2606040" cy="256032"/>
          </a:xfrm>
          <a:prstGeom prst="roundRect">
            <a:avLst>
              <a:gd name="adj" fmla="val 14286"/>
            </a:avLst>
          </a:prstGeom>
          <a:solidFill>
            <a:srgbClr val="00C2D4"/>
          </a:solidFill>
          <a:ln w="12700">
            <a:solidFill>
              <a:srgbClr val="00C2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8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E-MAIL — RESPOSTAS COM IA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65760" y="475488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Redigindo Respostas por Tipo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5760" y="107899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00C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1.2 — Prompts específicos para cada situação de e-mail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320040" y="1417320"/>
            <a:ext cx="4206240" cy="1737360"/>
          </a:xfrm>
          <a:prstGeom prst="rect">
            <a:avLst/>
          </a:prstGeom>
          <a:solidFill>
            <a:srgbClr val="0F1C2E"/>
          </a:solidFill>
          <a:ln w="12700">
            <a:solidFill>
              <a:srgbClr val="1E3A5F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417320"/>
            <a:ext cx="4206240" cy="347472"/>
          </a:xfrm>
          <a:prstGeom prst="rect">
            <a:avLst/>
          </a:prstGeom>
          <a:solidFill>
            <a:srgbClr val="FF5F5F"/>
          </a:solidFill>
          <a:ln w="12700">
            <a:solidFill>
              <a:srgbClr val="FF5F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417320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80E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Resposta a Reclamação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1828800"/>
            <a:ext cx="39319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DD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"Sou analista de atendimento. Responda a reclamação abaixo de forma empática, reconhecendo o problema, informando a solução adotada e incluindo prazo de resolução. Tom: profissional e humano. Reclamação: [COLAR]"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27448" y="1417320"/>
            <a:ext cx="4206240" cy="1737360"/>
          </a:xfrm>
          <a:prstGeom prst="rect">
            <a:avLst/>
          </a:prstGeom>
          <a:solidFill>
            <a:srgbClr val="0F1C2E"/>
          </a:solidFill>
          <a:ln w="12700">
            <a:solidFill>
              <a:srgbClr val="1E3A5F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27448" y="1417320"/>
            <a:ext cx="4206240" cy="34747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27448" y="1417320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80E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Follow-up de Proposta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64608" y="1828800"/>
            <a:ext cx="39319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DD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"Redija um e-mail de acompanhamento para o cliente [NOME] que recebeu a proposta em [DATA] e não respondeu. Tom: leve, sem pressão. Mencione um diferencial relevante e inclua CTA para reunião de 20 min."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" y="3310128"/>
            <a:ext cx="4206240" cy="1737360"/>
          </a:xfrm>
          <a:prstGeom prst="rect">
            <a:avLst/>
          </a:prstGeom>
          <a:solidFill>
            <a:srgbClr val="0F1C2E"/>
          </a:solidFill>
          <a:ln w="12700">
            <a:solidFill>
              <a:srgbClr val="1E3A5F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3310128"/>
            <a:ext cx="4206240" cy="347472"/>
          </a:xfrm>
          <a:prstGeom prst="rect">
            <a:avLst/>
          </a:prstGeom>
          <a:solidFill>
            <a:srgbClr val="00C2D4"/>
          </a:solidFill>
          <a:ln w="12700">
            <a:solidFill>
              <a:srgbClr val="00C2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3310128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80E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Comunicado Interno Urgente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3721608"/>
            <a:ext cx="39319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DD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"Crie um comunicado interno urgente sobre [ASSUNTO] para [PÚBLICO]. Estrutura: o que aconteceu, impacto, o que fazemos agora, próximos passos. Máx 150 palavras. Tom: claro e calmo."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27448" y="3310128"/>
            <a:ext cx="4206240" cy="1737360"/>
          </a:xfrm>
          <a:prstGeom prst="rect">
            <a:avLst/>
          </a:prstGeom>
          <a:solidFill>
            <a:srgbClr val="0F1C2E"/>
          </a:solidFill>
          <a:ln w="12700">
            <a:solidFill>
              <a:srgbClr val="1E3A5F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27448" y="3310128"/>
            <a:ext cx="4206240" cy="347472"/>
          </a:xfrm>
          <a:prstGeom prst="rect">
            <a:avLst/>
          </a:prstGeom>
          <a:solidFill>
            <a:srgbClr val="00D49A"/>
          </a:solidFill>
          <a:ln w="12700">
            <a:solidFill>
              <a:srgbClr val="00D49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27448" y="3310128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80E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Resposta a Fornecedor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64608" y="3721608"/>
            <a:ext cx="39319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DD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"Responda ao e-mail do fornecedor [NOME] sobre [ASSUNTO]. Posição da empresa: [DESCREVER]. Tom: firme e respeitoso. Deixe abertura para negociação mas defenda o interesse da empresa."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503920" y="480060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243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914400"/>
            <a:ext cx="2426818" cy="256032"/>
          </a:xfrm>
          <a:prstGeom prst="roundRect">
            <a:avLst>
              <a:gd name="adj" fmla="val 14286"/>
            </a:avLst>
          </a:prstGeom>
          <a:solidFill>
            <a:srgbClr val="00C2D4"/>
          </a:solidFill>
          <a:ln w="12700">
            <a:solidFill>
              <a:srgbClr val="00C2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233537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8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E-MAIL — FLUXO COMPLETO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65760" y="475488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Pipeline de E-mail com IA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5760" y="107899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00C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1.3 — Do recebimento à resposta: o processo completo em 5 etapas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365760" y="1554480"/>
            <a:ext cx="1554480" cy="1463040"/>
          </a:xfrm>
          <a:prstGeom prst="rect">
            <a:avLst/>
          </a:prstGeom>
          <a:solidFill>
            <a:srgbClr val="172438"/>
          </a:solidFill>
          <a:ln w="12700">
            <a:solidFill>
              <a:srgbClr val="1E3A5F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77824" y="1691640"/>
            <a:ext cx="530352" cy="530352"/>
          </a:xfrm>
          <a:prstGeom prst="ellipse">
            <a:avLst/>
          </a:prstGeom>
          <a:solidFill>
            <a:srgbClr val="00C2D4"/>
          </a:solidFill>
          <a:ln w="12700">
            <a:solidFill>
              <a:srgbClr val="00C2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77824" y="1691640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80E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65760" y="2313432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C2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Receber &amp; Colar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" y="2642616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Cole na IA</a:t>
            </a:r>
            <a:endParaRPr lang="en-US" sz="105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9384" y="2057400"/>
            <a:ext cx="91440" cy="27432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2011680" y="1554480"/>
            <a:ext cx="1554480" cy="1463040"/>
          </a:xfrm>
          <a:prstGeom prst="rect">
            <a:avLst/>
          </a:prstGeom>
          <a:solidFill>
            <a:srgbClr val="172438"/>
          </a:solidFill>
          <a:ln w="12700">
            <a:solidFill>
              <a:srgbClr val="1E3A5F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2523744" y="1691640"/>
            <a:ext cx="530352" cy="53035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523744" y="1691640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80E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2011680" y="2313432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Classificar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2011680" y="2642616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categoriza</a:t>
            </a:r>
            <a:endParaRPr lang="en-US" sz="1050" dirty="0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5304" y="2057400"/>
            <a:ext cx="91440" cy="274320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3657600" y="1554480"/>
            <a:ext cx="1554480" cy="1463040"/>
          </a:xfrm>
          <a:prstGeom prst="rect">
            <a:avLst/>
          </a:prstGeom>
          <a:solidFill>
            <a:srgbClr val="172438"/>
          </a:solidFill>
          <a:ln w="12700">
            <a:solidFill>
              <a:srgbClr val="1E3A5F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4169664" y="1691640"/>
            <a:ext cx="530352" cy="530352"/>
          </a:xfrm>
          <a:prstGeom prst="ellipse">
            <a:avLst/>
          </a:prstGeom>
          <a:solidFill>
            <a:srgbClr val="FF5F5F"/>
          </a:solidFill>
          <a:ln w="12700">
            <a:solidFill>
              <a:srgbClr val="FF5F5F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4169664" y="1691640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80E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7"/>
          <p:cNvSpPr/>
          <p:nvPr/>
        </p:nvSpPr>
        <p:spPr>
          <a:xfrm>
            <a:off x="3657600" y="2313432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5F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Priorizar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3657600" y="2642616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ordena urgência</a:t>
            </a:r>
            <a:endParaRPr lang="en-US" sz="1050" dirty="0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1224" y="2057400"/>
            <a:ext cx="91440" cy="274320"/>
          </a:xfrm>
          <a:prstGeom prst="rect">
            <a:avLst/>
          </a:prstGeom>
        </p:spPr>
      </p:pic>
      <p:sp>
        <p:nvSpPr>
          <p:cNvPr id="24" name="Shape 19"/>
          <p:cNvSpPr/>
          <p:nvPr/>
        </p:nvSpPr>
        <p:spPr>
          <a:xfrm>
            <a:off x="5303520" y="1554480"/>
            <a:ext cx="1554480" cy="1463040"/>
          </a:xfrm>
          <a:prstGeom prst="rect">
            <a:avLst/>
          </a:prstGeom>
          <a:solidFill>
            <a:srgbClr val="172438"/>
          </a:solidFill>
          <a:ln w="12700">
            <a:solidFill>
              <a:srgbClr val="1E3A5F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5815584" y="1691640"/>
            <a:ext cx="530352" cy="530352"/>
          </a:xfrm>
          <a:prstGeom prst="ellipse">
            <a:avLst/>
          </a:prstGeom>
          <a:solidFill>
            <a:srgbClr val="00D49A"/>
          </a:solidFill>
          <a:ln w="12700">
            <a:solidFill>
              <a:srgbClr val="00D49A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5815584" y="1691640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80E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800" dirty="0"/>
          </a:p>
        </p:txBody>
      </p:sp>
      <p:sp>
        <p:nvSpPr>
          <p:cNvPr id="27" name="Text 22"/>
          <p:cNvSpPr/>
          <p:nvPr/>
        </p:nvSpPr>
        <p:spPr>
          <a:xfrm>
            <a:off x="5303520" y="2313432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D4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Redigir</a:t>
            </a:r>
            <a:endParaRPr lang="en-US" sz="1200" dirty="0"/>
          </a:p>
        </p:txBody>
      </p:sp>
      <p:sp>
        <p:nvSpPr>
          <p:cNvPr id="28" name="Text 23"/>
          <p:cNvSpPr/>
          <p:nvPr/>
        </p:nvSpPr>
        <p:spPr>
          <a:xfrm>
            <a:off x="5303520" y="2642616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cria rascunho</a:t>
            </a:r>
            <a:endParaRPr lang="en-US" sz="1050" dirty="0"/>
          </a:p>
        </p:txBody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7144" y="2057400"/>
            <a:ext cx="91440" cy="274320"/>
          </a:xfrm>
          <a:prstGeom prst="rect">
            <a:avLst/>
          </a:prstGeom>
        </p:spPr>
      </p:pic>
      <p:sp>
        <p:nvSpPr>
          <p:cNvPr id="30" name="Shape 24"/>
          <p:cNvSpPr/>
          <p:nvPr/>
        </p:nvSpPr>
        <p:spPr>
          <a:xfrm>
            <a:off x="6949440" y="1554480"/>
            <a:ext cx="1554480" cy="1463040"/>
          </a:xfrm>
          <a:prstGeom prst="rect">
            <a:avLst/>
          </a:prstGeom>
          <a:solidFill>
            <a:srgbClr val="172438"/>
          </a:solidFill>
          <a:ln w="12700">
            <a:solidFill>
              <a:srgbClr val="1E3A5F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31" name="Shape 25"/>
          <p:cNvSpPr/>
          <p:nvPr/>
        </p:nvSpPr>
        <p:spPr>
          <a:xfrm>
            <a:off x="7461504" y="1691640"/>
            <a:ext cx="530352" cy="530352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2" name="Text 26"/>
          <p:cNvSpPr/>
          <p:nvPr/>
        </p:nvSpPr>
        <p:spPr>
          <a:xfrm>
            <a:off x="7461504" y="1691640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80E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800" dirty="0"/>
          </a:p>
        </p:txBody>
      </p:sp>
      <p:sp>
        <p:nvSpPr>
          <p:cNvPr id="33" name="Text 27"/>
          <p:cNvSpPr/>
          <p:nvPr/>
        </p:nvSpPr>
        <p:spPr>
          <a:xfrm>
            <a:off x="6949440" y="2313432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Revisar &amp; Enviar</a:t>
            </a:r>
            <a:endParaRPr lang="en-US" sz="1200" dirty="0"/>
          </a:p>
        </p:txBody>
      </p:sp>
      <p:sp>
        <p:nvSpPr>
          <p:cNvPr id="34" name="Text 28"/>
          <p:cNvSpPr/>
          <p:nvPr/>
        </p:nvSpPr>
        <p:spPr>
          <a:xfrm>
            <a:off x="6949440" y="2642616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aprova</a:t>
            </a:r>
            <a:endParaRPr lang="en-US" sz="1050" dirty="0"/>
          </a:p>
        </p:txBody>
      </p:sp>
      <p:sp>
        <p:nvSpPr>
          <p:cNvPr id="35" name="Shape 29"/>
          <p:cNvSpPr/>
          <p:nvPr/>
        </p:nvSpPr>
        <p:spPr>
          <a:xfrm>
            <a:off x="320040" y="3337560"/>
            <a:ext cx="8503920" cy="1463040"/>
          </a:xfrm>
          <a:prstGeom prst="rect">
            <a:avLst/>
          </a:prstGeom>
          <a:solidFill>
            <a:srgbClr val="172438"/>
          </a:solidFill>
          <a:ln w="12700">
            <a:solidFill>
              <a:srgbClr val="1E3A5F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36" name="Text 30"/>
          <p:cNvSpPr/>
          <p:nvPr/>
        </p:nvSpPr>
        <p:spPr>
          <a:xfrm>
            <a:off x="502920" y="34290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⏱  IMPACTO REAL:</a:t>
            </a:r>
            <a:endParaRPr lang="en-US" sz="1300" dirty="0"/>
          </a:p>
        </p:txBody>
      </p:sp>
      <p:sp>
        <p:nvSpPr>
          <p:cNvPr id="37" name="Text 31"/>
          <p:cNvSpPr/>
          <p:nvPr/>
        </p:nvSpPr>
        <p:spPr>
          <a:xfrm>
            <a:off x="502920" y="3767328"/>
            <a:ext cx="79552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D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Profissionais gastam em média 2h30 por dia com e-mails. Com IA integrada ao fluxo, esse tempo cai para 45–60 minutos — sem perder qualidade ou contexto nas respostas.</a:t>
            </a:r>
            <a:endParaRPr lang="en-US" sz="1300" dirty="0"/>
          </a:p>
        </p:txBody>
      </p:sp>
      <p:sp>
        <p:nvSpPr>
          <p:cNvPr id="38" name="Text 32"/>
          <p:cNvSpPr/>
          <p:nvPr/>
        </p:nvSpPr>
        <p:spPr>
          <a:xfrm>
            <a:off x="5577840" y="342900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5F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2h30</a:t>
            </a:r>
            <a:endParaRPr lang="en-US" sz="2400" dirty="0"/>
          </a:p>
        </p:txBody>
      </p:sp>
      <p:sp>
        <p:nvSpPr>
          <p:cNvPr id="39" name="Text 33"/>
          <p:cNvSpPr/>
          <p:nvPr/>
        </p:nvSpPr>
        <p:spPr>
          <a:xfrm>
            <a:off x="5577840" y="379476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IA</a:t>
            </a:r>
            <a:endParaRPr lang="en-US" sz="1100" dirty="0"/>
          </a:p>
        </p:txBody>
      </p:sp>
      <p:pic>
        <p:nvPicPr>
          <p:cNvPr id="40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0" y="3456432"/>
            <a:ext cx="365760" cy="365760"/>
          </a:xfrm>
          <a:prstGeom prst="rect">
            <a:avLst/>
          </a:prstGeom>
        </p:spPr>
      </p:pic>
      <p:sp>
        <p:nvSpPr>
          <p:cNvPr id="41" name="Text 34"/>
          <p:cNvSpPr/>
          <p:nvPr/>
        </p:nvSpPr>
        <p:spPr>
          <a:xfrm>
            <a:off x="6949440" y="342900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D4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55min</a:t>
            </a:r>
            <a:endParaRPr lang="en-US" sz="2400" dirty="0"/>
          </a:p>
        </p:txBody>
      </p:sp>
      <p:sp>
        <p:nvSpPr>
          <p:cNvPr id="42" name="Text 35"/>
          <p:cNvSpPr/>
          <p:nvPr/>
        </p:nvSpPr>
        <p:spPr>
          <a:xfrm>
            <a:off x="6949440" y="379476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IA</a:t>
            </a:r>
            <a:endParaRPr lang="en-US" sz="1100" dirty="0"/>
          </a:p>
        </p:txBody>
      </p:sp>
      <p:sp>
        <p:nvSpPr>
          <p:cNvPr id="43" name="Text 36"/>
          <p:cNvSpPr/>
          <p:nvPr/>
        </p:nvSpPr>
        <p:spPr>
          <a:xfrm>
            <a:off x="8503920" y="480060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243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C1A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1371600"/>
            <a:ext cx="4572000" cy="4572000"/>
          </a:xfrm>
          <a:prstGeom prst="ellipse">
            <a:avLst/>
          </a:prstGeom>
          <a:solidFill>
            <a:srgbClr val="F5A623">
              <a:alpha val="9000"/>
            </a:srgbClr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2874874" cy="256032"/>
          </a:xfrm>
          <a:prstGeom prst="roundRect">
            <a:avLst>
              <a:gd name="adj" fmla="val 14286"/>
            </a:avLst>
          </a:prstGeom>
          <a:solidFill>
            <a:srgbClr val="00C2D4"/>
          </a:solidFill>
          <a:ln w="12700">
            <a:solidFill>
              <a:srgbClr val="00C2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0"/>
            <a:ext cx="278343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8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2 — AGENDA INTELIGENTE</a:t>
            </a:r>
            <a:endParaRPr lang="en-US" sz="9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457200"/>
            <a:ext cx="1554480" cy="1554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640080"/>
            <a:ext cx="6400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AGENDA</a:t>
            </a:r>
            <a:endParaRPr lang="en-US" sz="5200" dirty="0"/>
          </a:p>
        </p:txBody>
      </p:sp>
      <p:sp>
        <p:nvSpPr>
          <p:cNvPr id="7" name="Text 4"/>
          <p:cNvSpPr/>
          <p:nvPr/>
        </p:nvSpPr>
        <p:spPr>
          <a:xfrm>
            <a:off x="365760" y="128016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Inteligente com IA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365760" y="190195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Priorize o que importa, elimine o ruído e proteja seu tempo produtivo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320040" y="2651760"/>
            <a:ext cx="2011680" cy="1783080"/>
          </a:xfrm>
          <a:prstGeom prst="rect">
            <a:avLst/>
          </a:prstGeom>
          <a:solidFill>
            <a:srgbClr val="0F1C2E"/>
          </a:solidFill>
          <a:ln w="12700">
            <a:solidFill>
              <a:srgbClr val="1E3A5F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49808" y="2734056"/>
            <a:ext cx="585216" cy="585216"/>
          </a:xfrm>
          <a:prstGeom prst="ellipse">
            <a:avLst/>
          </a:prstGeom>
          <a:solidFill>
            <a:srgbClr val="F5A623">
              <a:alpha val="17000"/>
            </a:srgbClr>
          </a:solidFill>
          <a:ln w="19050">
            <a:solidFill>
              <a:srgbClr val="F5A623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" y="2788920"/>
            <a:ext cx="475488" cy="47548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20040" y="33832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Eisenhower com IA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2496312" y="2651760"/>
            <a:ext cx="2011680" cy="1783080"/>
          </a:xfrm>
          <a:prstGeom prst="rect">
            <a:avLst/>
          </a:prstGeom>
          <a:solidFill>
            <a:srgbClr val="0F1C2E"/>
          </a:solidFill>
          <a:ln w="12700">
            <a:solidFill>
              <a:srgbClr val="1E3A5F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2926080" y="2734056"/>
            <a:ext cx="585216" cy="585216"/>
          </a:xfrm>
          <a:prstGeom prst="ellipse">
            <a:avLst/>
          </a:prstGeom>
          <a:solidFill>
            <a:srgbClr val="00C2D4">
              <a:alpha val="17000"/>
            </a:srgbClr>
          </a:solidFill>
          <a:ln w="19050">
            <a:solidFill>
              <a:srgbClr val="00C2D4"/>
            </a:solidFill>
            <a:prstDash val="solid"/>
          </a:ln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80944" y="2788920"/>
            <a:ext cx="475488" cy="47548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2496312" y="33832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0C2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Time Blocking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4672584" y="2651760"/>
            <a:ext cx="2011680" cy="1783080"/>
          </a:xfrm>
          <a:prstGeom prst="rect">
            <a:avLst/>
          </a:prstGeom>
          <a:solidFill>
            <a:srgbClr val="0F1C2E"/>
          </a:solidFill>
          <a:ln w="12700">
            <a:solidFill>
              <a:srgbClr val="1E3A5F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5102352" y="2734056"/>
            <a:ext cx="585216" cy="585216"/>
          </a:xfrm>
          <a:prstGeom prst="ellipse">
            <a:avLst/>
          </a:prstGeom>
          <a:solidFill>
            <a:srgbClr val="FF5F5F">
              <a:alpha val="17000"/>
            </a:srgbClr>
          </a:solidFill>
          <a:ln w="19050">
            <a:solidFill>
              <a:srgbClr val="FF5F5F"/>
            </a:solidFill>
            <a:prstDash val="solid"/>
          </a:ln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57216" y="2788920"/>
            <a:ext cx="475488" cy="475488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4672584" y="33832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5F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Alertas de Prazo</a:t>
            </a:r>
            <a:endParaRPr lang="en-US" sz="1250" dirty="0"/>
          </a:p>
        </p:txBody>
      </p:sp>
      <p:sp>
        <p:nvSpPr>
          <p:cNvPr id="21" name="Shape 15"/>
          <p:cNvSpPr/>
          <p:nvPr/>
        </p:nvSpPr>
        <p:spPr>
          <a:xfrm>
            <a:off x="6848856" y="2651760"/>
            <a:ext cx="2011680" cy="1783080"/>
          </a:xfrm>
          <a:prstGeom prst="rect">
            <a:avLst/>
          </a:prstGeom>
          <a:solidFill>
            <a:srgbClr val="0F1C2E"/>
          </a:solidFill>
          <a:ln w="12700">
            <a:solidFill>
              <a:srgbClr val="1E3A5F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7278624" y="2734056"/>
            <a:ext cx="585216" cy="585216"/>
          </a:xfrm>
          <a:prstGeom prst="ellipse">
            <a:avLst/>
          </a:prstGeom>
          <a:solidFill>
            <a:srgbClr val="00D49A">
              <a:alpha val="17000"/>
            </a:srgbClr>
          </a:solidFill>
          <a:ln w="19050">
            <a:solidFill>
              <a:srgbClr val="00D49A"/>
            </a:solidFill>
            <a:prstDash val="solid"/>
          </a:ln>
        </p:spPr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33488" y="2788920"/>
            <a:ext cx="475488" cy="475488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6848856" y="33832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0D4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Reagendamentos</a:t>
            </a:r>
            <a:endParaRPr lang="en-US" sz="1250" dirty="0"/>
          </a:p>
        </p:txBody>
      </p:sp>
      <p:sp>
        <p:nvSpPr>
          <p:cNvPr id="25" name="Text 18"/>
          <p:cNvSpPr/>
          <p:nvPr/>
        </p:nvSpPr>
        <p:spPr>
          <a:xfrm>
            <a:off x="8503920" y="480060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243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8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914400"/>
            <a:ext cx="2157984" cy="256032"/>
          </a:xfrm>
          <a:prstGeom prst="roundRect">
            <a:avLst>
              <a:gd name="adj" fmla="val 14286"/>
            </a:avLst>
          </a:prstGeom>
          <a:solidFill>
            <a:srgbClr val="00C2D4"/>
          </a:solidFill>
          <a:ln w="12700">
            <a:solidFill>
              <a:srgbClr val="00C2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20665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8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— PRIORIZAÇÃO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65760" y="475488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Priorizando a Semana com IA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5760" y="107899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2.1 — Matriz de Eisenhower aplicada por IA em segundos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320040" y="1417320"/>
            <a:ext cx="4133088" cy="1664208"/>
          </a:xfrm>
          <a:prstGeom prst="rect">
            <a:avLst/>
          </a:prstGeom>
          <a:solidFill>
            <a:srgbClr val="1C0808"/>
          </a:solidFill>
          <a:ln w="19050">
            <a:solidFill>
              <a:srgbClr val="FF5F5F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490472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5F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Q1 · FAZER AGORA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30352" y="1874520"/>
            <a:ext cx="146304" cy="146304"/>
          </a:xfrm>
          <a:prstGeom prst="ellipse">
            <a:avLst/>
          </a:prstGeom>
          <a:solidFill>
            <a:srgbClr val="FF5F5F"/>
          </a:solidFill>
          <a:ln w="12700">
            <a:solidFill>
              <a:srgbClr val="FF5F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847088"/>
            <a:ext cx="34930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D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Deadlines vencendo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30352" y="2221992"/>
            <a:ext cx="146304" cy="146304"/>
          </a:xfrm>
          <a:prstGeom prst="ellipse">
            <a:avLst/>
          </a:prstGeom>
          <a:solidFill>
            <a:srgbClr val="FF5F5F"/>
          </a:solidFill>
          <a:ln w="12700">
            <a:solidFill>
              <a:srgbClr val="FF5F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2194560"/>
            <a:ext cx="34930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D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Crises ativas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30352" y="2569464"/>
            <a:ext cx="146304" cy="146304"/>
          </a:xfrm>
          <a:prstGeom prst="ellipse">
            <a:avLst/>
          </a:prstGeom>
          <a:solidFill>
            <a:srgbClr val="FF5F5F"/>
          </a:solidFill>
          <a:ln w="12700">
            <a:solidFill>
              <a:srgbClr val="FF5F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2542032"/>
            <a:ext cx="34930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D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Reuniões críticas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99432" y="1417320"/>
            <a:ext cx="4133088" cy="1664208"/>
          </a:xfrm>
          <a:prstGeom prst="rect">
            <a:avLst/>
          </a:prstGeom>
          <a:solidFill>
            <a:srgbClr val="0E1A0A"/>
          </a:solidFill>
          <a:ln w="19050">
            <a:solidFill>
              <a:srgbClr val="00D49A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736592" y="1490472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D4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Q2 · AGENDAR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809744" y="1874520"/>
            <a:ext cx="146304" cy="146304"/>
          </a:xfrm>
          <a:prstGeom prst="ellipse">
            <a:avLst/>
          </a:prstGeom>
          <a:solidFill>
            <a:srgbClr val="00D49A"/>
          </a:solidFill>
          <a:ln w="12700">
            <a:solidFill>
              <a:srgbClr val="00D49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56632" y="1847088"/>
            <a:ext cx="34930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D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Projetos estratégicos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809744" y="2221992"/>
            <a:ext cx="146304" cy="146304"/>
          </a:xfrm>
          <a:prstGeom prst="ellipse">
            <a:avLst/>
          </a:prstGeom>
          <a:solidFill>
            <a:srgbClr val="00D49A"/>
          </a:solidFill>
          <a:ln w="12700">
            <a:solidFill>
              <a:srgbClr val="00D49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56632" y="2194560"/>
            <a:ext cx="34930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D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Desenvolvimento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809744" y="2569464"/>
            <a:ext cx="146304" cy="146304"/>
          </a:xfrm>
          <a:prstGeom prst="ellipse">
            <a:avLst/>
          </a:prstGeom>
          <a:solidFill>
            <a:srgbClr val="00D49A"/>
          </a:solidFill>
          <a:ln w="12700">
            <a:solidFill>
              <a:srgbClr val="00D49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56632" y="2542032"/>
            <a:ext cx="34930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D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Planejamento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20040" y="3200400"/>
            <a:ext cx="4133088" cy="1664208"/>
          </a:xfrm>
          <a:prstGeom prst="rect">
            <a:avLst/>
          </a:prstGeom>
          <a:solidFill>
            <a:srgbClr val="0A100A"/>
          </a:solidFill>
          <a:ln w="19050">
            <a:solidFill>
              <a:srgbClr val="F5A623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57200" y="3273552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Q3 · DELEGAR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30352" y="3657600"/>
            <a:ext cx="146304" cy="146304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77240" y="3630168"/>
            <a:ext cx="34930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D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Reuniões de status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30352" y="4005072"/>
            <a:ext cx="146304" cy="146304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7240" y="3977640"/>
            <a:ext cx="34930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D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Pedidos de terceiros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30352" y="4352544"/>
            <a:ext cx="146304" cy="146304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77240" y="4325112"/>
            <a:ext cx="34930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D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Aprovações simples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599432" y="3200400"/>
            <a:ext cx="4133088" cy="1664208"/>
          </a:xfrm>
          <a:prstGeom prst="rect">
            <a:avLst/>
          </a:prstGeom>
          <a:solidFill>
            <a:srgbClr val="0A0A0A"/>
          </a:solidFill>
          <a:ln w="19050">
            <a:solidFill>
              <a:srgbClr val="7A8FA6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736592" y="3273552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A8F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Q4 · ELIMINAR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4809744" y="3657600"/>
            <a:ext cx="146304" cy="146304"/>
          </a:xfrm>
          <a:prstGeom prst="ellipse">
            <a:avLst/>
          </a:prstGeom>
          <a:solidFill>
            <a:srgbClr val="7A8FA6"/>
          </a:solidFill>
          <a:ln w="12700">
            <a:solidFill>
              <a:srgbClr val="7A8FA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56632" y="3630168"/>
            <a:ext cx="34930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D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Reuniões sem pauta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809744" y="4005072"/>
            <a:ext cx="146304" cy="146304"/>
          </a:xfrm>
          <a:prstGeom prst="ellipse">
            <a:avLst/>
          </a:prstGeom>
          <a:solidFill>
            <a:srgbClr val="7A8FA6"/>
          </a:solidFill>
          <a:ln w="12700">
            <a:solidFill>
              <a:srgbClr val="7A8FA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56632" y="3977640"/>
            <a:ext cx="34930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D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E-mails não urgentes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4809744" y="4352544"/>
            <a:ext cx="146304" cy="146304"/>
          </a:xfrm>
          <a:prstGeom prst="ellipse">
            <a:avLst/>
          </a:prstGeom>
          <a:solidFill>
            <a:srgbClr val="7A8FA6"/>
          </a:solidFill>
          <a:ln w="12700">
            <a:solidFill>
              <a:srgbClr val="7A8FA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56632" y="4325112"/>
            <a:ext cx="34930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D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Relatórios automáticos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320040" y="4645152"/>
            <a:ext cx="8503920" cy="347472"/>
          </a:xfrm>
          <a:prstGeom prst="rect">
            <a:avLst/>
          </a:prstGeom>
          <a:solidFill>
            <a:srgbClr val="0D1828"/>
          </a:solidFill>
          <a:ln w="12700">
            <a:solidFill>
              <a:srgbClr val="1E3A5F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475488" y="466344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🗂  Prompt: "Aqui estão minhas tarefas da semana: [LISTAR]. Classifique em Q1/Q2/Q3/Q4, estime tempo de cada uma e sugira um cronograma para 5 dias úteis."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8503920" y="480060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243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8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914400"/>
            <a:ext cx="3322930" cy="256032"/>
          </a:xfrm>
          <a:prstGeom prst="roundRect">
            <a:avLst>
              <a:gd name="adj" fmla="val 14286"/>
            </a:avLst>
          </a:prstGeom>
          <a:solidFill>
            <a:srgbClr val="00C2D4"/>
          </a:solidFill>
          <a:ln w="12700">
            <a:solidFill>
              <a:srgbClr val="00C2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323149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8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— TIME BLOCKING &amp; CONVITES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65760" y="475488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Bloqueio de Tempo e Gestão de Convites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07899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2.2 — Proteja seu tempo produtivo e responda convites com estratégia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320040" y="1417320"/>
            <a:ext cx="4160520" cy="3493008"/>
          </a:xfrm>
          <a:prstGeom prst="rect">
            <a:avLst/>
          </a:prstGeom>
          <a:solidFill>
            <a:srgbClr val="0F1C2E"/>
          </a:solidFill>
          <a:ln w="12700">
            <a:solidFill>
              <a:srgbClr val="1E3A5F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417320"/>
            <a:ext cx="4160520" cy="34747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417320"/>
            <a:ext cx="4160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80E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⏰  TIME BLOCKING COM IA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84048" y="1874520"/>
            <a:ext cx="3931920" cy="2944368"/>
          </a:xfrm>
          <a:prstGeom prst="rect">
            <a:avLst/>
          </a:prstGeom>
          <a:solidFill>
            <a:srgbClr val="060D18"/>
          </a:solidFill>
          <a:ln w="19050">
            <a:solidFill>
              <a:srgbClr val="F5A623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84048" y="1874520"/>
            <a:ext cx="3931920" cy="237744"/>
          </a:xfrm>
          <a:prstGeom prst="rect">
            <a:avLst/>
          </a:prstGeom>
          <a:solidFill>
            <a:srgbClr val="111E30"/>
          </a:solidFill>
          <a:ln w="12700">
            <a:solidFill>
              <a:srgbClr val="111E3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2064" y="1929384"/>
            <a:ext cx="128016" cy="128016"/>
          </a:xfrm>
          <a:prstGeom prst="ellipse">
            <a:avLst/>
          </a:prstGeom>
          <a:solidFill>
            <a:srgbClr val="FF5F5F"/>
          </a:solidFill>
          <a:ln w="12700">
            <a:solidFill>
              <a:srgbClr val="FF5F5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94944" y="1929384"/>
            <a:ext cx="128016" cy="128016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77824" y="1929384"/>
            <a:ext cx="128016" cy="128016"/>
          </a:xfrm>
          <a:prstGeom prst="ellipse">
            <a:avLst/>
          </a:prstGeom>
          <a:solidFill>
            <a:srgbClr val="00D49A"/>
          </a:solidFill>
          <a:ln w="12700">
            <a:solidFill>
              <a:srgbClr val="00D49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66160" y="1920240"/>
            <a:ext cx="6583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530352" y="2176272"/>
            <a:ext cx="36758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Prompt: Criar Blocos de Tempo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30352" y="2400300"/>
            <a:ext cx="36758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D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Crie um plano de time blocking para minha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30352" y="2624328"/>
            <a:ext cx="36758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D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semana com base nas atividades abaixo.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30352" y="2848356"/>
            <a:ext cx="36758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D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Meu expediente: 8h às 18h.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30352" y="3072384"/>
            <a:ext cx="36758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D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Preferências: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30352" y="3296412"/>
            <a:ext cx="36758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D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Trabalho profundo: manhãs (9h-12h)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30352" y="3520440"/>
            <a:ext cx="36758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D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Reuniões: terças e quintas à tarde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30352" y="3744468"/>
            <a:ext cx="36758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D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Buffer de 30min entre reuniões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30352" y="3968496"/>
            <a:ext cx="36758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D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Reservar 1h por dia p/ e-mails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30352" y="4192524"/>
            <a:ext cx="36758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D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Atividades: [LISTAR COM ESTIMATIVAS]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663440" y="1417320"/>
            <a:ext cx="4178808" cy="3493008"/>
          </a:xfrm>
          <a:prstGeom prst="rect">
            <a:avLst/>
          </a:prstGeom>
          <a:solidFill>
            <a:srgbClr val="0F1C2E"/>
          </a:solidFill>
          <a:ln w="12700">
            <a:solidFill>
              <a:srgbClr val="1E3A5F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63440" y="1417320"/>
            <a:ext cx="4178808" cy="347472"/>
          </a:xfrm>
          <a:prstGeom prst="rect">
            <a:avLst/>
          </a:prstGeom>
          <a:solidFill>
            <a:srgbClr val="00C2D4"/>
          </a:solidFill>
          <a:ln w="12700">
            <a:solidFill>
              <a:srgbClr val="00C2D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63440" y="1417320"/>
            <a:ext cx="41788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80E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📨  RESPOSTA A CONVITES DE REUNIÃO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800600" y="1883664"/>
            <a:ext cx="39044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D4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Aceitar com pauta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800600" y="2157984"/>
            <a:ext cx="3904488" cy="594360"/>
          </a:xfrm>
          <a:prstGeom prst="roundRect">
            <a:avLst>
              <a:gd name="adj" fmla="val 7692"/>
            </a:avLst>
          </a:prstGeom>
          <a:solidFill>
            <a:srgbClr val="060D18"/>
          </a:solidFill>
          <a:ln w="12700">
            <a:solidFill>
              <a:srgbClr val="00D49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92040" y="2185416"/>
            <a:ext cx="37307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DD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"Aceite o convite de [TÍTULO] e sugira incluir os itens [A,B,C] na pauta. Tom cordial."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800600" y="2889504"/>
            <a:ext cx="39044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5F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Recusar com alternativa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800600" y="3163824"/>
            <a:ext cx="3904488" cy="594360"/>
          </a:xfrm>
          <a:prstGeom prst="roundRect">
            <a:avLst>
              <a:gd name="adj" fmla="val 7692"/>
            </a:avLst>
          </a:prstGeom>
          <a:solidFill>
            <a:srgbClr val="060D18"/>
          </a:solidFill>
          <a:ln w="12700">
            <a:solidFill>
              <a:srgbClr val="FF5F5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92040" y="3191256"/>
            <a:ext cx="37307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DD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"Recuse o convite de [TÍTULO] no dia [DATA] por conflito de agenda e proponha [DATA ALT]. Tom: respeitoso."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800600" y="3895344"/>
            <a:ext cx="39044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Pedir mais informações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800600" y="4169664"/>
            <a:ext cx="3904488" cy="594360"/>
          </a:xfrm>
          <a:prstGeom prst="roundRect">
            <a:avLst>
              <a:gd name="adj" fmla="val 7692"/>
            </a:avLst>
          </a:prstGeom>
          <a:solidFill>
            <a:srgbClr val="060D18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92040" y="4197096"/>
            <a:ext cx="37307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DD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"Antes de aceitar [REUNIÃO], solicite pauta, duração estimada e se minha presença é obrigatória."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8503920" y="480060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243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8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914400"/>
            <a:ext cx="4114800" cy="4114800"/>
          </a:xfrm>
          <a:prstGeom prst="ellipse">
            <a:avLst/>
          </a:prstGeom>
          <a:solidFill>
            <a:srgbClr val="00D49A">
              <a:alpha val="9000"/>
            </a:srgbClr>
          </a:solidFill>
          <a:ln w="12700">
            <a:solidFill>
              <a:srgbClr val="00D4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2964485" cy="256032"/>
          </a:xfrm>
          <a:prstGeom prst="roundRect">
            <a:avLst>
              <a:gd name="adj" fmla="val 14286"/>
            </a:avLst>
          </a:prstGeom>
          <a:solidFill>
            <a:srgbClr val="00C2D4"/>
          </a:solidFill>
          <a:ln w="12700">
            <a:solidFill>
              <a:srgbClr val="00C2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0"/>
            <a:ext cx="287304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8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3 — CONTROLE DE TAREFAS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365760" y="475488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D4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Capturando e Estruturando Tarefas com IA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65760" y="107899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3.1 — Transforme reuniões, e-mails e anotações em tarefas acionáveis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320040" y="1417320"/>
            <a:ext cx="4160520" cy="3493008"/>
          </a:xfrm>
          <a:prstGeom prst="rect">
            <a:avLst/>
          </a:prstGeom>
          <a:solidFill>
            <a:srgbClr val="0F1C2E"/>
          </a:solidFill>
          <a:ln w="12700">
            <a:solidFill>
              <a:srgbClr val="1E3A5F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75488" y="150876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D4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FONTES DE CAPTURA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11480" y="1874520"/>
            <a:ext cx="3977640" cy="868680"/>
          </a:xfrm>
          <a:prstGeom prst="rect">
            <a:avLst/>
          </a:prstGeom>
          <a:solidFill>
            <a:srgbClr val="172438"/>
          </a:solidFill>
          <a:ln w="12700">
            <a:solidFill>
              <a:srgbClr val="1E3A5F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48640" y="193852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D4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📧 E-mails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2221992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7A8F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"Leia este e-mail e extraia todas as ações que preciso tomar, com responsável e prazo sugerido."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11480" y="2880360"/>
            <a:ext cx="3977640" cy="868680"/>
          </a:xfrm>
          <a:prstGeom prst="rect">
            <a:avLst/>
          </a:prstGeom>
          <a:solidFill>
            <a:srgbClr val="172438"/>
          </a:solidFill>
          <a:ln w="12700">
            <a:solidFill>
              <a:srgbClr val="1E3A5F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48640" y="294436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D4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📋 Ata de Reunião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3227832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7A8F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"Analise a ata abaixo e liste todas as tarefas por responsável, em formato: Quem · O quê · Até quando."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11480" y="3886200"/>
            <a:ext cx="3977640" cy="868680"/>
          </a:xfrm>
          <a:prstGeom prst="rect">
            <a:avLst/>
          </a:prstGeom>
          <a:solidFill>
            <a:srgbClr val="172438"/>
          </a:solidFill>
          <a:ln w="12700">
            <a:solidFill>
              <a:srgbClr val="1E3A5F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395020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D4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📝 Anotações Livres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40" y="4233672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7A8F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"Transforme estas anotações desorganizadas em uma lista de tarefas estruturada com prioridade e deadline."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663440" y="1417320"/>
            <a:ext cx="4178808" cy="3493008"/>
          </a:xfrm>
          <a:prstGeom prst="rect">
            <a:avLst/>
          </a:prstGeom>
          <a:solidFill>
            <a:srgbClr val="0F1C2E"/>
          </a:solidFill>
          <a:ln w="12700">
            <a:solidFill>
              <a:srgbClr val="1E3A5F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63440" y="1417320"/>
            <a:ext cx="4178808" cy="347472"/>
          </a:xfrm>
          <a:prstGeom prst="rect">
            <a:avLst/>
          </a:prstGeom>
          <a:solidFill>
            <a:srgbClr val="00D49A"/>
          </a:solidFill>
          <a:ln w="12700">
            <a:solidFill>
              <a:srgbClr val="00D49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1417320"/>
            <a:ext cx="41788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80E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📋  ESTRUTURA DE TAREFA IDEAL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773168" y="187452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D4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Título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291072" y="1874520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Verbo de ação + objeto claro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773168" y="2359152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2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Contexto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291072" y="2359152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existe essa tarefa?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773168" y="2843784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Responsável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291072" y="2843784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executa / quem aprova?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773168" y="3328416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5F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Deadline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291072" y="3328416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+ horário + tipo (hard/soft)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773168" y="3813048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A8F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Dependências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291072" y="3813048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precisa acontecer antes?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773168" y="429768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D4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Resultado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291072" y="4297680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saber se está concluído?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503920" y="480060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243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8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914400"/>
            <a:ext cx="3591763" cy="256032"/>
          </a:xfrm>
          <a:prstGeom prst="roundRect">
            <a:avLst>
              <a:gd name="adj" fmla="val 14286"/>
            </a:avLst>
          </a:prstGeom>
          <a:solidFill>
            <a:srgbClr val="00C2D4"/>
          </a:solidFill>
          <a:ln w="12700">
            <a:solidFill>
              <a:srgbClr val="00C2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350032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8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3 — ACOMPANHAMENTO &amp; RELATÓRIO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65760" y="475488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D4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Relatório Diário de Tarefas com IA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07899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3.2 — Status, bloqueios e handoff para pares e liderança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320040" y="1417320"/>
            <a:ext cx="4160520" cy="3493008"/>
          </a:xfrm>
          <a:prstGeom prst="rect">
            <a:avLst/>
          </a:prstGeom>
          <a:solidFill>
            <a:srgbClr val="060D18"/>
          </a:solidFill>
          <a:ln w="19050">
            <a:solidFill>
              <a:srgbClr val="00D49A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417320"/>
            <a:ext cx="4160520" cy="237744"/>
          </a:xfrm>
          <a:prstGeom prst="rect">
            <a:avLst/>
          </a:prstGeom>
          <a:solidFill>
            <a:srgbClr val="111E30"/>
          </a:solidFill>
          <a:ln w="12700">
            <a:solidFill>
              <a:srgbClr val="111E3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48056" y="1472184"/>
            <a:ext cx="128016" cy="128016"/>
          </a:xfrm>
          <a:prstGeom prst="ellipse">
            <a:avLst/>
          </a:prstGeom>
          <a:solidFill>
            <a:srgbClr val="FF5F5F"/>
          </a:solidFill>
          <a:ln w="12700">
            <a:solidFill>
              <a:srgbClr val="FF5F5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30936" y="1472184"/>
            <a:ext cx="128016" cy="128016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13816" y="1472184"/>
            <a:ext cx="128016" cy="128016"/>
          </a:xfrm>
          <a:prstGeom prst="ellipse">
            <a:avLst/>
          </a:prstGeom>
          <a:solidFill>
            <a:srgbClr val="00D49A"/>
          </a:solidFill>
          <a:ln w="12700">
            <a:solidFill>
              <a:srgbClr val="00D49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30752" y="1463040"/>
            <a:ext cx="6583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0D4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466344" y="1719072"/>
            <a:ext cx="39044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4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Prompt: Relatório Diário (Daily Standup)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66344" y="1943100"/>
            <a:ext cx="39044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D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 base nas tarefas abaixo, gere meu relatório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66344" y="2167128"/>
            <a:ext cx="39044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D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 status diário no formato standup: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66344" y="2391156"/>
            <a:ext cx="39044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66344" y="2615184"/>
            <a:ext cx="39044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D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O QUE FIZ HOJE (concluídas)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66344" y="2839212"/>
            <a:ext cx="39044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D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 O QUE FAREI AMANHÃ (próximas)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66344" y="3063240"/>
            <a:ext cx="39044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D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 BLOQUEIOS (o que está travado e por quê)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66344" y="3287268"/>
            <a:ext cx="39044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D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 ALERTAS (deadlines em risco)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66344" y="3511296"/>
            <a:ext cx="39044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66344" y="3735324"/>
            <a:ext cx="39044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6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Tom: direto, máx 10 linhas, para enviar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66344" y="3959352"/>
            <a:ext cx="39044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6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ao time e liderança.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66344" y="4183380"/>
            <a:ext cx="39044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D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Tarefas: [COLAR LISTA]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663440" y="1417320"/>
            <a:ext cx="4178808" cy="3493008"/>
          </a:xfrm>
          <a:prstGeom prst="rect">
            <a:avLst/>
          </a:prstGeom>
          <a:solidFill>
            <a:srgbClr val="0F1C2E"/>
          </a:solidFill>
          <a:ln w="12700">
            <a:solidFill>
              <a:srgbClr val="1E3A5F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63440" y="1417320"/>
            <a:ext cx="4178808" cy="34747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63440" y="1417320"/>
            <a:ext cx="41788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🤝  DELEGAÇÃO COM CONTEXTO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800600" y="1874520"/>
            <a:ext cx="39044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Prompt para delegar com clareza: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800600" y="2176272"/>
            <a:ext cx="3904488" cy="1280160"/>
          </a:xfrm>
          <a:prstGeom prst="roundRect">
            <a:avLst>
              <a:gd name="adj" fmla="val 4286"/>
            </a:avLst>
          </a:prstGeom>
          <a:solidFill>
            <a:srgbClr val="060D18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92040" y="2212848"/>
            <a:ext cx="3730752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DD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"Preciso delegar a tarefa [NOME] para [PESSOA]. Crie uma mensagem de delegação clara com: contexto da tarefa, o que precisa ser entregue, deadline, critério de sucesso e a quem recorrer em caso de dúvida."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800600" y="3566160"/>
            <a:ext cx="39044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5F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Alerta de deadline vencendo: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800600" y="3858768"/>
            <a:ext cx="3904488" cy="914400"/>
          </a:xfrm>
          <a:prstGeom prst="roundRect">
            <a:avLst>
              <a:gd name="adj" fmla="val 6000"/>
            </a:avLst>
          </a:prstGeom>
          <a:solidFill>
            <a:srgbClr val="060D18"/>
          </a:solidFill>
          <a:ln w="12700">
            <a:solidFill>
              <a:srgbClr val="FF5F5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92040" y="3895344"/>
            <a:ext cx="3730752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DD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"Crie um lembrete urgente para [PESSOA] sobre a tarefa [NOME] com deadline em [DATA]. Inclua o impacto do não cumprimento e alternativas de prazo."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503920" y="480060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243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8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1371600"/>
            <a:ext cx="4572000" cy="4572000"/>
          </a:xfrm>
          <a:prstGeom prst="ellipse">
            <a:avLst/>
          </a:prstGeom>
          <a:solidFill>
            <a:srgbClr val="0D9488">
              <a:alpha val="9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3054096" cy="256032"/>
          </a:xfrm>
          <a:prstGeom prst="roundRect">
            <a:avLst>
              <a:gd name="adj" fmla="val 14286"/>
            </a:avLst>
          </a:prstGeom>
          <a:solidFill>
            <a:srgbClr val="00C2D4"/>
          </a:solidFill>
          <a:ln w="12700">
            <a:solidFill>
              <a:srgbClr val="00C2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0"/>
            <a:ext cx="29626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8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4 — PLANILHAS &amp; SUMÁRIOS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365760" y="475488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Sumários Inteligentes de Planilhas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65760" y="107899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4.1 — Transforme dados brutos em insights executivos com IA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320040" y="1417320"/>
            <a:ext cx="4160520" cy="3493008"/>
          </a:xfrm>
          <a:prstGeom prst="rect">
            <a:avLst/>
          </a:prstGeom>
          <a:solidFill>
            <a:srgbClr val="0F1C2E"/>
          </a:solidFill>
          <a:ln w="12700">
            <a:solidFill>
              <a:srgbClr val="1E3A5F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417320"/>
            <a:ext cx="4160520" cy="347472"/>
          </a:xfrm>
          <a:prstGeom prst="rect">
            <a:avLst/>
          </a:prstGeom>
          <a:solidFill>
            <a:srgbClr val="1A1A1A"/>
          </a:solidFill>
          <a:ln w="19050">
            <a:solidFill>
              <a:srgbClr val="FF5F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417320"/>
            <a:ext cx="4160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5F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❌  PLANILHA BRUTA (sem IA)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11480" y="1874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A8F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Jan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399032" y="1874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A8F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R$ 142.300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386584" y="1874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A8F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R$ 135.000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374136" y="1874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0D4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+5,4%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11480" y="220370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A8F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Fev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399032" y="220370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A8F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R$ 128.900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386584" y="220370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A8F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R$ 135.000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374136" y="220370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5F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-4,5%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11480" y="253288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A8F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399032" y="253288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A8F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R$ 156.700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386584" y="253288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A8F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R$ 140.000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374136" y="253288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0D4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+11,9%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11480" y="286207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A8F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Abr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399032" y="286207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A8F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R$ 134.200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2386584" y="286207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A8F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R$ 140.000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374136" y="286207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5F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-4,1%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11480" y="3218688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3A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 847 linhas adicionais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53712" y="2240280"/>
            <a:ext cx="365760" cy="36576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2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0288" y="2286000"/>
            <a:ext cx="274320" cy="274320"/>
          </a:xfrm>
          <a:prstGeom prst="rect">
            <a:avLst/>
          </a:prstGeom>
        </p:spPr>
      </p:pic>
      <p:sp>
        <p:nvSpPr>
          <p:cNvPr id="29" name="Shape 26"/>
          <p:cNvSpPr/>
          <p:nvPr/>
        </p:nvSpPr>
        <p:spPr>
          <a:xfrm>
            <a:off x="4983480" y="1417320"/>
            <a:ext cx="3858768" cy="3493008"/>
          </a:xfrm>
          <a:prstGeom prst="rect">
            <a:avLst/>
          </a:prstGeom>
          <a:solidFill>
            <a:srgbClr val="0F1C2E"/>
          </a:solidFill>
          <a:ln w="12700">
            <a:solidFill>
              <a:srgbClr val="1E3A5F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4983480" y="1417320"/>
            <a:ext cx="3858768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983480" y="1417320"/>
            <a:ext cx="38587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80E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✅  SUMÁRIO EXECUTIVO (com IA)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5120640" y="1874520"/>
            <a:ext cx="35844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D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Desempenho Jan–Abr: Receita média R$ 140.525/mês vs. meta R$ 137.500 (+2,2%)</a:t>
            </a:r>
            <a:endParaRPr lang="en-US" sz="1150" dirty="0"/>
          </a:p>
        </p:txBody>
      </p:sp>
      <p:sp>
        <p:nvSpPr>
          <p:cNvPr id="33" name="Text 30"/>
          <p:cNvSpPr/>
          <p:nvPr/>
        </p:nvSpPr>
        <p:spPr>
          <a:xfrm>
            <a:off x="5120640" y="2359152"/>
            <a:ext cx="35844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0D4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Melhor mês: Março (+11,9% acima da meta)</a:t>
            </a:r>
            <a:endParaRPr lang="en-US" sz="1150" dirty="0"/>
          </a:p>
        </p:txBody>
      </p:sp>
      <p:sp>
        <p:nvSpPr>
          <p:cNvPr id="34" name="Text 31"/>
          <p:cNvSpPr/>
          <p:nvPr/>
        </p:nvSpPr>
        <p:spPr>
          <a:xfrm>
            <a:off x="5120640" y="2706624"/>
            <a:ext cx="35844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Atenção: Fev e Abr abaixo da meta</a:t>
            </a:r>
            <a:endParaRPr lang="en-US" sz="1150" dirty="0"/>
          </a:p>
        </p:txBody>
      </p:sp>
      <p:sp>
        <p:nvSpPr>
          <p:cNvPr id="35" name="Text 32"/>
          <p:cNvSpPr/>
          <p:nvPr/>
        </p:nvSpPr>
        <p:spPr>
          <a:xfrm>
            <a:off x="5120640" y="3054096"/>
            <a:ext cx="35844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Tendência: crescimento leve de +1,3% ao mês</a:t>
            </a:r>
            <a:endParaRPr lang="en-US" sz="1150" dirty="0"/>
          </a:p>
        </p:txBody>
      </p:sp>
      <p:sp>
        <p:nvSpPr>
          <p:cNvPr id="36" name="Text 33"/>
          <p:cNvSpPr/>
          <p:nvPr/>
        </p:nvSpPr>
        <p:spPr>
          <a:xfrm>
            <a:off x="5120640" y="3401568"/>
            <a:ext cx="35844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Recomendação: investigar sazonalidade em fev</a:t>
            </a:r>
            <a:endParaRPr lang="en-US" sz="1150" dirty="0"/>
          </a:p>
        </p:txBody>
      </p:sp>
      <p:sp>
        <p:nvSpPr>
          <p:cNvPr id="37" name="Shape 34"/>
          <p:cNvSpPr/>
          <p:nvPr/>
        </p:nvSpPr>
        <p:spPr>
          <a:xfrm>
            <a:off x="5120640" y="3822192"/>
            <a:ext cx="3584448" cy="804672"/>
          </a:xfrm>
          <a:prstGeom prst="roundRect">
            <a:avLst>
              <a:gd name="adj" fmla="val 5682"/>
            </a:avLst>
          </a:prstGeom>
          <a:solidFill>
            <a:srgbClr val="060D1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5212080" y="3858768"/>
            <a:ext cx="340156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 usado: "Analise os dados da planilha abaixo e crie um sumário executivo com: desempenho vs. meta, meses em destaque, tendência e 2 recomendações. Dados: [COLAR]"</a:t>
            </a:r>
            <a:endParaRPr lang="en-US" sz="1000" dirty="0"/>
          </a:p>
        </p:txBody>
      </p:sp>
      <p:sp>
        <p:nvSpPr>
          <p:cNvPr id="39" name="Text 36"/>
          <p:cNvSpPr/>
          <p:nvPr/>
        </p:nvSpPr>
        <p:spPr>
          <a:xfrm>
            <a:off x="8503920" y="480060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243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8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914400"/>
            <a:ext cx="2695651" cy="256032"/>
          </a:xfrm>
          <a:prstGeom prst="roundRect">
            <a:avLst>
              <a:gd name="adj" fmla="val 14286"/>
            </a:avLst>
          </a:prstGeom>
          <a:solidFill>
            <a:srgbClr val="00C2D4"/>
          </a:solidFill>
          <a:ln w="12700">
            <a:solidFill>
              <a:srgbClr val="00C2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260421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8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4 — ANÁLISE AVANÇADA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65760" y="475488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Análise Avançada de Dados com IA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07899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4.2 — Insights, anomalias e previsões sem saber programar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320040" y="1417320"/>
            <a:ext cx="4206240" cy="1737360"/>
          </a:xfrm>
          <a:prstGeom prst="rect">
            <a:avLst/>
          </a:prstGeom>
          <a:solidFill>
            <a:srgbClr val="0F1C2E"/>
          </a:solidFill>
          <a:ln w="12700">
            <a:solidFill>
              <a:srgbClr val="1E3A5F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417320"/>
            <a:ext cx="4206240" cy="347472"/>
          </a:xfrm>
          <a:prstGeom prst="rect">
            <a:avLst/>
          </a:prstGeom>
          <a:solidFill>
            <a:srgbClr val="FF5F5F"/>
          </a:solidFill>
          <a:ln w="12700">
            <a:solidFill>
              <a:srgbClr val="FF5F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417320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80E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Detectar Anomalias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1828800"/>
            <a:ext cx="39319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DD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"Analise os dados abaixo e identifique valores fora do padrão (outliers), datas com comportamento atípico e possíveis erros de lançamento. Dados: [COLAR]"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27448" y="1417320"/>
            <a:ext cx="4206240" cy="1737360"/>
          </a:xfrm>
          <a:prstGeom prst="rect">
            <a:avLst/>
          </a:prstGeom>
          <a:solidFill>
            <a:srgbClr val="0F1C2E"/>
          </a:solidFill>
          <a:ln w="12700">
            <a:solidFill>
              <a:srgbClr val="1E3A5F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27448" y="1417320"/>
            <a:ext cx="4206240" cy="34747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27448" y="1417320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80E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Comparar Períodos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64608" y="1828800"/>
            <a:ext cx="39319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DD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"Compare os resultados do período [A] vs [B]. Mostre: variação absoluta, variação %, o que melhorou, o que piorou e a principal causa provável de cada desvio."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" y="3310128"/>
            <a:ext cx="4206240" cy="1737360"/>
          </a:xfrm>
          <a:prstGeom prst="rect">
            <a:avLst/>
          </a:prstGeom>
          <a:solidFill>
            <a:srgbClr val="0F1C2E"/>
          </a:solidFill>
          <a:ln w="12700">
            <a:solidFill>
              <a:srgbClr val="1E3A5F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3310128"/>
            <a:ext cx="4206240" cy="347472"/>
          </a:xfrm>
          <a:prstGeom prst="rect">
            <a:avLst/>
          </a:prstGeom>
          <a:solidFill>
            <a:srgbClr val="00D49A"/>
          </a:solidFill>
          <a:ln w="12700">
            <a:solidFill>
              <a:srgbClr val="00D49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3310128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80E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Projeção Simples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3721608"/>
            <a:ext cx="39319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DD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"Com base nos últimos 6 meses de dados, faça uma projeção para os próximos 3 meses. Considere sazonalidade e tendência linear. Aponte o intervalo de confiança."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27448" y="3310128"/>
            <a:ext cx="4206240" cy="1737360"/>
          </a:xfrm>
          <a:prstGeom prst="rect">
            <a:avLst/>
          </a:prstGeom>
          <a:solidFill>
            <a:srgbClr val="0F1C2E"/>
          </a:solidFill>
          <a:ln w="12700">
            <a:solidFill>
              <a:srgbClr val="1E3A5F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27448" y="3310128"/>
            <a:ext cx="4206240" cy="34747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27448" y="3310128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80E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Dashboard Textual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64608" y="3721608"/>
            <a:ext cx="39319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DD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"Crie um dashboard executivo em texto com: 3 KPIs principais, semáforo de status (verde/amarelo/vermelho) e 1 ação recomendada para cada indicador. Dados: [COLAR]"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503920" y="480060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243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8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457200"/>
            <a:ext cx="4114800" cy="4114800"/>
          </a:xfrm>
          <a:prstGeom prst="ellipse">
            <a:avLst/>
          </a:prstGeom>
          <a:solidFill>
            <a:srgbClr val="8B5CF6">
              <a:alpha val="9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3322930" cy="256032"/>
          </a:xfrm>
          <a:prstGeom prst="roundRect">
            <a:avLst>
              <a:gd name="adj" fmla="val 14286"/>
            </a:avLst>
          </a:prstGeom>
          <a:solidFill>
            <a:srgbClr val="00C2D4"/>
          </a:solidFill>
          <a:ln w="12700">
            <a:solidFill>
              <a:srgbClr val="00C2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0"/>
            <a:ext cx="323149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8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5 — DOCUMENTOS &amp; RELATÓRIOS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365760" y="475488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Sumarizando Documentos com IA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65760" y="107899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5.1 — De contratos a relatórios: extraindo o essencial em segundos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320040" y="1417320"/>
            <a:ext cx="4206240" cy="1737360"/>
          </a:xfrm>
          <a:prstGeom prst="rect">
            <a:avLst/>
          </a:prstGeom>
          <a:solidFill>
            <a:srgbClr val="0F1C2E"/>
          </a:solidFill>
          <a:ln w="12700">
            <a:solidFill>
              <a:srgbClr val="1E3A5F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417320"/>
            <a:ext cx="4206240" cy="34747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417320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80E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📄 Contrato (30 páginas)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57200" y="1828800"/>
            <a:ext cx="39319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DD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"Leia este contrato e extraia: (1) Partes envolvidas, (2) Objeto, (3) Valor e forma de pagamento, (4) Prazo de vigência, (5) As 3 cláusulas de maior risco e (6) Obrigações da nossa empresa. [COLAR TRECHO]"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727448" y="1417320"/>
            <a:ext cx="4206240" cy="1737360"/>
          </a:xfrm>
          <a:prstGeom prst="rect">
            <a:avLst/>
          </a:prstGeom>
          <a:solidFill>
            <a:srgbClr val="0F1C2E"/>
          </a:solidFill>
          <a:ln w="12700">
            <a:solidFill>
              <a:srgbClr val="1E3A5F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27448" y="1417320"/>
            <a:ext cx="4206240" cy="347472"/>
          </a:xfrm>
          <a:prstGeom prst="rect">
            <a:avLst/>
          </a:prstGeom>
          <a:solidFill>
            <a:srgbClr val="00C2D4"/>
          </a:solidFill>
          <a:ln w="12700">
            <a:solidFill>
              <a:srgbClr val="00C2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27448" y="1417320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80E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📊 Relatório Gerencial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864608" y="1828800"/>
            <a:ext cx="39319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DD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"Resuma este relatório em um executive brief de max 10 linhas: contexto, 3 números mais importantes, principal conclusão e próximo passo recomendado. [COLAR RELATÓRIO]"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20040" y="3310128"/>
            <a:ext cx="4206240" cy="1737360"/>
          </a:xfrm>
          <a:prstGeom prst="rect">
            <a:avLst/>
          </a:prstGeom>
          <a:solidFill>
            <a:srgbClr val="0F1C2E"/>
          </a:solidFill>
          <a:ln w="12700">
            <a:solidFill>
              <a:srgbClr val="1E3A5F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" y="3310128"/>
            <a:ext cx="4206240" cy="34747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3310128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80E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📋 Regulamento Interno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57200" y="3721608"/>
            <a:ext cx="39319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DD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"Analise este regulamento e responda: O que os colaboradores PODEM fazer? O que NÃO PODEM? Quais são as penalidades? Formate em tabela simples. [COLAR]"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727448" y="3310128"/>
            <a:ext cx="4206240" cy="1737360"/>
          </a:xfrm>
          <a:prstGeom prst="rect">
            <a:avLst/>
          </a:prstGeom>
          <a:solidFill>
            <a:srgbClr val="0F1C2E"/>
          </a:solidFill>
          <a:ln w="12700">
            <a:solidFill>
              <a:srgbClr val="1E3A5F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27448" y="3310128"/>
            <a:ext cx="4206240" cy="347472"/>
          </a:xfrm>
          <a:prstGeom prst="rect">
            <a:avLst/>
          </a:prstGeom>
          <a:solidFill>
            <a:srgbClr val="FF5F5F"/>
          </a:solidFill>
          <a:ln w="12700">
            <a:solidFill>
              <a:srgbClr val="FF5F5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27448" y="3310128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80E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📧 Thread de E-mail Longo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864608" y="3721608"/>
            <a:ext cx="39319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DD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"Esta thread de e-mail tem [N] mensagens. Resuma: o que foi pedido no início, quais decisões foram tomadas, quem está responsável pelo quê e qual é o próximo passo pendente. [COLAR]"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503920" y="480060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243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8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914400"/>
            <a:ext cx="3412541" cy="256032"/>
          </a:xfrm>
          <a:prstGeom prst="roundRect">
            <a:avLst>
              <a:gd name="adj" fmla="val 14286"/>
            </a:avLst>
          </a:prstGeom>
          <a:solidFill>
            <a:srgbClr val="00C2D4"/>
          </a:solidFill>
          <a:ln w="12700">
            <a:solidFill>
              <a:srgbClr val="00C2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332110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8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5 — ELABORAÇÃO DE DOCUMENTOS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65760" y="475488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Criando Documentos Corporativos do Zero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07899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5.2 — Minutas, políticas, relatórios e POPs com estrutura profissional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365760" y="1417320"/>
            <a:ext cx="1572768" cy="1234440"/>
          </a:xfrm>
          <a:prstGeom prst="rect">
            <a:avLst/>
          </a:prstGeom>
          <a:solidFill>
            <a:srgbClr val="172438"/>
          </a:solidFill>
          <a:ln w="12700">
            <a:solidFill>
              <a:srgbClr val="1E3A5F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1508760"/>
            <a:ext cx="475488" cy="47548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50876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80E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65760" y="2075688"/>
            <a:ext cx="15727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Defina o tipo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2350008"/>
            <a:ext cx="15727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documento?</a:t>
            </a:r>
            <a:endParaRPr lang="en-US" sz="100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7672" y="1709928"/>
            <a:ext cx="73152" cy="22860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2011680" y="1417320"/>
            <a:ext cx="1572768" cy="1234440"/>
          </a:xfrm>
          <a:prstGeom prst="rect">
            <a:avLst/>
          </a:prstGeom>
          <a:solidFill>
            <a:srgbClr val="172438"/>
          </a:solidFill>
          <a:ln w="12700">
            <a:solidFill>
              <a:srgbClr val="1E3A5F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2560320" y="1508760"/>
            <a:ext cx="475488" cy="475488"/>
          </a:xfrm>
          <a:prstGeom prst="ellipse">
            <a:avLst/>
          </a:prstGeom>
          <a:solidFill>
            <a:srgbClr val="00C2D4"/>
          </a:solidFill>
          <a:ln w="12700">
            <a:solidFill>
              <a:srgbClr val="00C2D4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560320" y="150876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80E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2011680" y="2075688"/>
            <a:ext cx="15727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C2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Dê o contexto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2011680" y="2350008"/>
            <a:ext cx="15727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Empresa, área...</a:t>
            </a:r>
            <a:endParaRPr lang="en-US" sz="1000" dirty="0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93592" y="1709928"/>
            <a:ext cx="73152" cy="228600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3657600" y="1417320"/>
            <a:ext cx="1572768" cy="1234440"/>
          </a:xfrm>
          <a:prstGeom prst="rect">
            <a:avLst/>
          </a:prstGeom>
          <a:solidFill>
            <a:srgbClr val="172438"/>
          </a:solidFill>
          <a:ln w="12700">
            <a:solidFill>
              <a:srgbClr val="1E3A5F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4206240" y="1508760"/>
            <a:ext cx="475488" cy="47548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4206240" y="150876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80E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7"/>
          <p:cNvSpPr/>
          <p:nvPr/>
        </p:nvSpPr>
        <p:spPr>
          <a:xfrm>
            <a:off x="3657600" y="2075688"/>
            <a:ext cx="15727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Especifique</a:t>
            </a:r>
            <a:endParaRPr lang="en-US" sz="1100" dirty="0"/>
          </a:p>
        </p:txBody>
      </p:sp>
      <p:sp>
        <p:nvSpPr>
          <p:cNvPr id="22" name="Text 18"/>
          <p:cNvSpPr/>
          <p:nvPr/>
        </p:nvSpPr>
        <p:spPr>
          <a:xfrm>
            <a:off x="3657600" y="2350008"/>
            <a:ext cx="15727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Formato, tamanho</a:t>
            </a:r>
            <a:endParaRPr lang="en-US" sz="1000" dirty="0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9512" y="1709928"/>
            <a:ext cx="73152" cy="228600"/>
          </a:xfrm>
          <a:prstGeom prst="rect">
            <a:avLst/>
          </a:prstGeom>
        </p:spPr>
      </p:pic>
      <p:sp>
        <p:nvSpPr>
          <p:cNvPr id="24" name="Shape 19"/>
          <p:cNvSpPr/>
          <p:nvPr/>
        </p:nvSpPr>
        <p:spPr>
          <a:xfrm>
            <a:off x="5303520" y="1417320"/>
            <a:ext cx="1572768" cy="1234440"/>
          </a:xfrm>
          <a:prstGeom prst="rect">
            <a:avLst/>
          </a:prstGeom>
          <a:solidFill>
            <a:srgbClr val="172438"/>
          </a:solidFill>
          <a:ln w="12700">
            <a:solidFill>
              <a:srgbClr val="1E3A5F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5852160" y="1508760"/>
            <a:ext cx="475488" cy="475488"/>
          </a:xfrm>
          <a:prstGeom prst="ellipse">
            <a:avLst/>
          </a:prstGeom>
          <a:solidFill>
            <a:srgbClr val="00D49A"/>
          </a:solidFill>
          <a:ln w="12700">
            <a:solidFill>
              <a:srgbClr val="00D49A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5852160" y="150876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80E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600" dirty="0"/>
          </a:p>
        </p:txBody>
      </p:sp>
      <p:sp>
        <p:nvSpPr>
          <p:cNvPr id="27" name="Text 22"/>
          <p:cNvSpPr/>
          <p:nvPr/>
        </p:nvSpPr>
        <p:spPr>
          <a:xfrm>
            <a:off x="5303520" y="2075688"/>
            <a:ext cx="15727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D4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Gere</a:t>
            </a:r>
            <a:endParaRPr lang="en-US" sz="1100" dirty="0"/>
          </a:p>
        </p:txBody>
      </p:sp>
      <p:sp>
        <p:nvSpPr>
          <p:cNvPr id="28" name="Text 23"/>
          <p:cNvSpPr/>
          <p:nvPr/>
        </p:nvSpPr>
        <p:spPr>
          <a:xfrm>
            <a:off x="5303520" y="2350008"/>
            <a:ext cx="15727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cria rascunho</a:t>
            </a:r>
            <a:endParaRPr lang="en-US" sz="1000" dirty="0"/>
          </a:p>
        </p:txBody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5432" y="1709928"/>
            <a:ext cx="73152" cy="228600"/>
          </a:xfrm>
          <a:prstGeom prst="rect">
            <a:avLst/>
          </a:prstGeom>
        </p:spPr>
      </p:pic>
      <p:sp>
        <p:nvSpPr>
          <p:cNvPr id="30" name="Shape 24"/>
          <p:cNvSpPr/>
          <p:nvPr/>
        </p:nvSpPr>
        <p:spPr>
          <a:xfrm>
            <a:off x="6949440" y="1417320"/>
            <a:ext cx="1572768" cy="1234440"/>
          </a:xfrm>
          <a:prstGeom prst="rect">
            <a:avLst/>
          </a:prstGeom>
          <a:solidFill>
            <a:srgbClr val="172438"/>
          </a:solidFill>
          <a:ln w="12700">
            <a:solidFill>
              <a:srgbClr val="1E3A5F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31" name="Shape 25"/>
          <p:cNvSpPr/>
          <p:nvPr/>
        </p:nvSpPr>
        <p:spPr>
          <a:xfrm>
            <a:off x="7498080" y="1508760"/>
            <a:ext cx="475488" cy="475488"/>
          </a:xfrm>
          <a:prstGeom prst="ellipse">
            <a:avLst/>
          </a:prstGeom>
          <a:solidFill>
            <a:srgbClr val="FF5F5F"/>
          </a:solidFill>
          <a:ln w="12700">
            <a:solidFill>
              <a:srgbClr val="FF5F5F"/>
            </a:solidFill>
            <a:prstDash val="solid"/>
          </a:ln>
        </p:spPr>
      </p:sp>
      <p:sp>
        <p:nvSpPr>
          <p:cNvPr id="32" name="Text 26"/>
          <p:cNvSpPr/>
          <p:nvPr/>
        </p:nvSpPr>
        <p:spPr>
          <a:xfrm>
            <a:off x="7498080" y="150876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80E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600" dirty="0"/>
          </a:p>
        </p:txBody>
      </p:sp>
      <p:sp>
        <p:nvSpPr>
          <p:cNvPr id="33" name="Text 27"/>
          <p:cNvSpPr/>
          <p:nvPr/>
        </p:nvSpPr>
        <p:spPr>
          <a:xfrm>
            <a:off x="6949440" y="2075688"/>
            <a:ext cx="15727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5F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Refine</a:t>
            </a:r>
            <a:endParaRPr lang="en-US" sz="1100" dirty="0"/>
          </a:p>
        </p:txBody>
      </p:sp>
      <p:sp>
        <p:nvSpPr>
          <p:cNvPr id="34" name="Text 28"/>
          <p:cNvSpPr/>
          <p:nvPr/>
        </p:nvSpPr>
        <p:spPr>
          <a:xfrm>
            <a:off x="6949440" y="2350008"/>
            <a:ext cx="15727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Itere por seção</a:t>
            </a:r>
            <a:endParaRPr lang="en-US" sz="1000" dirty="0"/>
          </a:p>
        </p:txBody>
      </p:sp>
      <p:sp>
        <p:nvSpPr>
          <p:cNvPr id="35" name="Shape 29"/>
          <p:cNvSpPr/>
          <p:nvPr/>
        </p:nvSpPr>
        <p:spPr>
          <a:xfrm>
            <a:off x="320040" y="2834640"/>
            <a:ext cx="8503920" cy="2075688"/>
          </a:xfrm>
          <a:prstGeom prst="rect">
            <a:avLst/>
          </a:prstGeom>
          <a:solidFill>
            <a:srgbClr val="060D18"/>
          </a:solidFill>
          <a:ln w="19050">
            <a:solidFill>
              <a:srgbClr val="8B5CF6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36" name="Shape 30"/>
          <p:cNvSpPr/>
          <p:nvPr/>
        </p:nvSpPr>
        <p:spPr>
          <a:xfrm>
            <a:off x="320040" y="2834640"/>
            <a:ext cx="8503920" cy="237744"/>
          </a:xfrm>
          <a:prstGeom prst="rect">
            <a:avLst/>
          </a:prstGeom>
          <a:solidFill>
            <a:srgbClr val="111E30"/>
          </a:solidFill>
          <a:ln w="12700">
            <a:solidFill>
              <a:srgbClr val="111E30"/>
            </a:solidFill>
            <a:prstDash val="solid"/>
          </a:ln>
        </p:spPr>
      </p:sp>
      <p:sp>
        <p:nvSpPr>
          <p:cNvPr id="37" name="Shape 31"/>
          <p:cNvSpPr/>
          <p:nvPr/>
        </p:nvSpPr>
        <p:spPr>
          <a:xfrm>
            <a:off x="448056" y="2889504"/>
            <a:ext cx="128016" cy="128016"/>
          </a:xfrm>
          <a:prstGeom prst="ellipse">
            <a:avLst/>
          </a:prstGeom>
          <a:solidFill>
            <a:srgbClr val="FF5F5F"/>
          </a:solidFill>
          <a:ln w="12700">
            <a:solidFill>
              <a:srgbClr val="FF5F5F"/>
            </a:solidFill>
            <a:prstDash val="solid"/>
          </a:ln>
        </p:spPr>
      </p:sp>
      <p:sp>
        <p:nvSpPr>
          <p:cNvPr id="38" name="Shape 32"/>
          <p:cNvSpPr/>
          <p:nvPr/>
        </p:nvSpPr>
        <p:spPr>
          <a:xfrm>
            <a:off x="630936" y="2889504"/>
            <a:ext cx="128016" cy="128016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9" name="Shape 33"/>
          <p:cNvSpPr/>
          <p:nvPr/>
        </p:nvSpPr>
        <p:spPr>
          <a:xfrm>
            <a:off x="813816" y="2889504"/>
            <a:ext cx="128016" cy="128016"/>
          </a:xfrm>
          <a:prstGeom prst="ellipse">
            <a:avLst/>
          </a:prstGeom>
          <a:solidFill>
            <a:srgbClr val="00D49A"/>
          </a:solidFill>
          <a:ln w="12700">
            <a:solidFill>
              <a:srgbClr val="00D49A"/>
            </a:solidFill>
            <a:prstDash val="solid"/>
          </a:ln>
        </p:spPr>
      </p:sp>
      <p:sp>
        <p:nvSpPr>
          <p:cNvPr id="40" name="Text 34"/>
          <p:cNvSpPr/>
          <p:nvPr/>
        </p:nvSpPr>
        <p:spPr>
          <a:xfrm>
            <a:off x="8074152" y="2880360"/>
            <a:ext cx="6583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</a:t>
            </a:r>
            <a:endParaRPr lang="en-US" sz="750" dirty="0"/>
          </a:p>
        </p:txBody>
      </p:sp>
      <p:sp>
        <p:nvSpPr>
          <p:cNvPr id="41" name="Text 35"/>
          <p:cNvSpPr/>
          <p:nvPr/>
        </p:nvSpPr>
        <p:spPr>
          <a:xfrm>
            <a:off x="466344" y="3136392"/>
            <a:ext cx="82478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5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RISEN aplicado: Política de Reembolso de Despesas</a:t>
            </a:r>
            <a:endParaRPr lang="en-US" sz="1100" dirty="0"/>
          </a:p>
        </p:txBody>
      </p:sp>
      <p:sp>
        <p:nvSpPr>
          <p:cNvPr id="42" name="Text 36"/>
          <p:cNvSpPr/>
          <p:nvPr/>
        </p:nvSpPr>
        <p:spPr>
          <a:xfrm>
            <a:off x="466344" y="3360420"/>
            <a:ext cx="82478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D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 — Atue como Controller Financeiro c/ expertise em políticas corporativas.</a:t>
            </a:r>
            <a:endParaRPr lang="en-US" sz="1100" dirty="0"/>
          </a:p>
        </p:txBody>
      </p:sp>
      <p:sp>
        <p:nvSpPr>
          <p:cNvPr id="43" name="Text 37"/>
          <p:cNvSpPr/>
          <p:nvPr/>
        </p:nvSpPr>
        <p:spPr>
          <a:xfrm>
            <a:off x="466344" y="3584448"/>
            <a:ext cx="82478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D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 — Use linguagem objetiva, sem juridiquês. Seja prático e claro.</a:t>
            </a:r>
            <a:endParaRPr lang="en-US" sz="1100" dirty="0"/>
          </a:p>
        </p:txBody>
      </p:sp>
      <p:sp>
        <p:nvSpPr>
          <p:cNvPr id="44" name="Text 38"/>
          <p:cNvSpPr/>
          <p:nvPr/>
        </p:nvSpPr>
        <p:spPr>
          <a:xfrm>
            <a:off x="466344" y="3808476"/>
            <a:ext cx="82478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D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 — Estruture em: Objetivo → Quem se aplica → Categorias aceitas →</a:t>
            </a:r>
            <a:endParaRPr lang="en-US" sz="1100" dirty="0"/>
          </a:p>
        </p:txBody>
      </p:sp>
      <p:sp>
        <p:nvSpPr>
          <p:cNvPr id="45" name="Text 39"/>
          <p:cNvSpPr/>
          <p:nvPr/>
        </p:nvSpPr>
        <p:spPr>
          <a:xfrm>
            <a:off x="466344" y="4032504"/>
            <a:ext cx="82478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D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Limites por categoria → Processo de solicitação → Aprovações →</a:t>
            </a:r>
            <a:endParaRPr lang="en-US" sz="1100" dirty="0"/>
          </a:p>
        </p:txBody>
      </p:sp>
      <p:sp>
        <p:nvSpPr>
          <p:cNvPr id="46" name="Text 40"/>
          <p:cNvSpPr/>
          <p:nvPr/>
        </p:nvSpPr>
        <p:spPr>
          <a:xfrm>
            <a:off x="466344" y="4256532"/>
            <a:ext cx="82478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D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Prazo de pagamento → Penalidades.</a:t>
            </a:r>
            <a:endParaRPr lang="en-US" sz="1100" dirty="0"/>
          </a:p>
        </p:txBody>
      </p:sp>
      <p:sp>
        <p:nvSpPr>
          <p:cNvPr id="47" name="Text 41"/>
          <p:cNvSpPr/>
          <p:nvPr/>
        </p:nvSpPr>
        <p:spPr>
          <a:xfrm>
            <a:off x="466344" y="4480560"/>
            <a:ext cx="82478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D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 — Gerar uma política que os colaboradores realmente sigam.</a:t>
            </a:r>
            <a:endParaRPr lang="en-US" sz="1100" dirty="0"/>
          </a:p>
        </p:txBody>
      </p:sp>
      <p:sp>
        <p:nvSpPr>
          <p:cNvPr id="48" name="Text 42"/>
          <p:cNvSpPr/>
          <p:nvPr/>
        </p:nvSpPr>
        <p:spPr>
          <a:xfrm>
            <a:off x="466344" y="4704588"/>
            <a:ext cx="82478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D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 — Máx 2 páginas A4. Sem repetições. Sem linguagem jurídica.</a:t>
            </a:r>
            <a:endParaRPr lang="en-US" sz="1100" dirty="0"/>
          </a:p>
        </p:txBody>
      </p:sp>
      <p:sp>
        <p:nvSpPr>
          <p:cNvPr id="49" name="Text 43"/>
          <p:cNvSpPr/>
          <p:nvPr/>
        </p:nvSpPr>
        <p:spPr>
          <a:xfrm>
            <a:off x="8503920" y="480060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243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C1A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457200"/>
            <a:ext cx="5029200" cy="5029200"/>
          </a:xfrm>
          <a:prstGeom prst="ellipse">
            <a:avLst/>
          </a:prstGeom>
          <a:solidFill>
            <a:srgbClr val="F97316">
              <a:alpha val="9000"/>
            </a:srgbClr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3412541" cy="256032"/>
          </a:xfrm>
          <a:prstGeom prst="roundRect">
            <a:avLst>
              <a:gd name="adj" fmla="val 14286"/>
            </a:avLst>
          </a:prstGeom>
          <a:solidFill>
            <a:srgbClr val="00C2D4"/>
          </a:solidFill>
          <a:ln w="12700">
            <a:solidFill>
              <a:srgbClr val="00C2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0"/>
            <a:ext cx="332110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8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6 — APRESENTAÇÕES &amp; ROTEIROS</a:t>
            </a:r>
            <a:endParaRPr lang="en-US" sz="9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457200"/>
            <a:ext cx="1554480" cy="1554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640080"/>
            <a:ext cx="6858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APRESENTAÇÕES</a:t>
            </a:r>
            <a:endParaRPr lang="en-US" sz="4200" dirty="0"/>
          </a:p>
        </p:txBody>
      </p:sp>
      <p:sp>
        <p:nvSpPr>
          <p:cNvPr id="7" name="Text 4"/>
          <p:cNvSpPr/>
          <p:nvPr/>
        </p:nvSpPr>
        <p:spPr>
          <a:xfrm>
            <a:off x="365760" y="1261872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 Roteiros com IA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365760" y="187452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ideia à apresentação executiva pronta — com estrutura de narrativa profissional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320040" y="2651760"/>
            <a:ext cx="2011680" cy="1783080"/>
          </a:xfrm>
          <a:prstGeom prst="rect">
            <a:avLst/>
          </a:prstGeom>
          <a:solidFill>
            <a:srgbClr val="0F1C2E"/>
          </a:solidFill>
          <a:ln w="12700">
            <a:solidFill>
              <a:srgbClr val="1E3A5F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49808" y="2734056"/>
            <a:ext cx="585216" cy="585216"/>
          </a:xfrm>
          <a:prstGeom prst="ellipse">
            <a:avLst/>
          </a:prstGeom>
          <a:solidFill>
            <a:srgbClr val="F97316">
              <a:alpha val="17000"/>
            </a:srgbClr>
          </a:solidFill>
          <a:ln w="19050">
            <a:solidFill>
              <a:srgbClr val="F97316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" y="2788920"/>
            <a:ext cx="475488" cy="47548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20040" y="33832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Estrutura de Narrativa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2496312" y="2651760"/>
            <a:ext cx="2011680" cy="1783080"/>
          </a:xfrm>
          <a:prstGeom prst="rect">
            <a:avLst/>
          </a:prstGeom>
          <a:solidFill>
            <a:srgbClr val="0F1C2E"/>
          </a:solidFill>
          <a:ln w="12700">
            <a:solidFill>
              <a:srgbClr val="1E3A5F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2926080" y="2734056"/>
            <a:ext cx="585216" cy="585216"/>
          </a:xfrm>
          <a:prstGeom prst="ellipse">
            <a:avLst/>
          </a:prstGeom>
          <a:solidFill>
            <a:srgbClr val="00C2D4">
              <a:alpha val="17000"/>
            </a:srgbClr>
          </a:solidFill>
          <a:ln w="19050">
            <a:solidFill>
              <a:srgbClr val="00C2D4"/>
            </a:solidFill>
            <a:prstDash val="solid"/>
          </a:ln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80944" y="2788920"/>
            <a:ext cx="475488" cy="47548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2496312" y="33832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0C2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Roteiro Slide a Slide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4672584" y="2651760"/>
            <a:ext cx="2011680" cy="1783080"/>
          </a:xfrm>
          <a:prstGeom prst="rect">
            <a:avLst/>
          </a:prstGeom>
          <a:solidFill>
            <a:srgbClr val="0F1C2E"/>
          </a:solidFill>
          <a:ln w="12700">
            <a:solidFill>
              <a:srgbClr val="1E3A5F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5102352" y="2734056"/>
            <a:ext cx="585216" cy="585216"/>
          </a:xfrm>
          <a:prstGeom prst="ellipse">
            <a:avLst/>
          </a:prstGeom>
          <a:solidFill>
            <a:srgbClr val="8B5CF6">
              <a:alpha val="17000"/>
            </a:srgbClr>
          </a:solidFill>
          <a:ln w="19050">
            <a:solidFill>
              <a:srgbClr val="8B5CF6"/>
            </a:solidFill>
            <a:prstDash val="solid"/>
          </a:ln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57216" y="2788920"/>
            <a:ext cx="475488" cy="475488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4672584" y="33832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Conteúdo por Seção</a:t>
            </a:r>
            <a:endParaRPr lang="en-US" sz="1250" dirty="0"/>
          </a:p>
        </p:txBody>
      </p:sp>
      <p:sp>
        <p:nvSpPr>
          <p:cNvPr id="21" name="Shape 15"/>
          <p:cNvSpPr/>
          <p:nvPr/>
        </p:nvSpPr>
        <p:spPr>
          <a:xfrm>
            <a:off x="6848856" y="2651760"/>
            <a:ext cx="2011680" cy="1783080"/>
          </a:xfrm>
          <a:prstGeom prst="rect">
            <a:avLst/>
          </a:prstGeom>
          <a:solidFill>
            <a:srgbClr val="0F1C2E"/>
          </a:solidFill>
          <a:ln w="12700">
            <a:solidFill>
              <a:srgbClr val="1E3A5F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7278624" y="2734056"/>
            <a:ext cx="585216" cy="585216"/>
          </a:xfrm>
          <a:prstGeom prst="ellipse">
            <a:avLst/>
          </a:prstGeom>
          <a:solidFill>
            <a:srgbClr val="00D49A">
              <a:alpha val="17000"/>
            </a:srgbClr>
          </a:solidFill>
          <a:ln w="19050">
            <a:solidFill>
              <a:srgbClr val="00D49A"/>
            </a:solidFill>
            <a:prstDash val="solid"/>
          </a:ln>
        </p:spPr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33488" y="2788920"/>
            <a:ext cx="475488" cy="475488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6848856" y="33832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0D4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Notas do Apresentador</a:t>
            </a:r>
            <a:endParaRPr lang="en-US" sz="1250" dirty="0"/>
          </a:p>
        </p:txBody>
      </p:sp>
      <p:sp>
        <p:nvSpPr>
          <p:cNvPr id="25" name="Text 18"/>
          <p:cNvSpPr/>
          <p:nvPr/>
        </p:nvSpPr>
        <p:spPr>
          <a:xfrm>
            <a:off x="8503920" y="480060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243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8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914400"/>
            <a:ext cx="3502152" cy="256032"/>
          </a:xfrm>
          <a:prstGeom prst="roundRect">
            <a:avLst>
              <a:gd name="adj" fmla="val 14286"/>
            </a:avLst>
          </a:prstGeom>
          <a:solidFill>
            <a:srgbClr val="00C2D4"/>
          </a:solidFill>
          <a:ln w="12700">
            <a:solidFill>
              <a:srgbClr val="00C2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34107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8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APRESENTAÇÕES — ESTRUTURA &amp; ROTEIRO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65760" y="475488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 Brief ao Roteiro Completo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5760" y="107899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6.1 — Construindo a narrativa antes de montar os slides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320040" y="1417320"/>
            <a:ext cx="5120640" cy="3493008"/>
          </a:xfrm>
          <a:prstGeom prst="rect">
            <a:avLst/>
          </a:prstGeom>
          <a:solidFill>
            <a:srgbClr val="060D18"/>
          </a:solidFill>
          <a:ln w="19050">
            <a:solidFill>
              <a:srgbClr val="F97316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417320"/>
            <a:ext cx="5120640" cy="237744"/>
          </a:xfrm>
          <a:prstGeom prst="rect">
            <a:avLst/>
          </a:prstGeom>
          <a:solidFill>
            <a:srgbClr val="111E30"/>
          </a:solidFill>
          <a:ln w="12700">
            <a:solidFill>
              <a:srgbClr val="111E3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48056" y="1472184"/>
            <a:ext cx="128016" cy="128016"/>
          </a:xfrm>
          <a:prstGeom prst="ellipse">
            <a:avLst/>
          </a:prstGeom>
          <a:solidFill>
            <a:srgbClr val="FF5F5F"/>
          </a:solidFill>
          <a:ln w="12700">
            <a:solidFill>
              <a:srgbClr val="FF5F5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30936" y="1472184"/>
            <a:ext cx="128016" cy="128016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13816" y="1472184"/>
            <a:ext cx="128016" cy="128016"/>
          </a:xfrm>
          <a:prstGeom prst="ellipse">
            <a:avLst/>
          </a:prstGeom>
          <a:solidFill>
            <a:srgbClr val="00D49A"/>
          </a:solidFill>
          <a:ln w="12700">
            <a:solidFill>
              <a:srgbClr val="00D49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90872" y="1463040"/>
            <a:ext cx="6583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466344" y="1719072"/>
            <a:ext cx="48646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PASSO 1 — Definir a Narrativa (BAB + PARA)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66344" y="1943100"/>
            <a:ext cx="48646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D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 — Antes: Qual problema ou contexto a apresentação aborda?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66344" y="2167128"/>
            <a:ext cx="48646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D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— Depois: Qual decisão ou ação você quer que o público tome?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66344" y="2391156"/>
            <a:ext cx="48646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D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 — Ponte: Que argumento conecta os dois?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66344" y="2615184"/>
            <a:ext cx="48646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66344" y="2839212"/>
            <a:ext cx="48646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 de Estruturação: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66344" y="3063240"/>
            <a:ext cx="48646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D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"Preciso criar uma apresentação de [DURAÇÃO] para [PÚBLICO].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66344" y="3287268"/>
            <a:ext cx="48646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D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Contexto: [DESCREVER SITUAÇÃO ATUAL].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66344" y="3511296"/>
            <a:ext cx="48646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D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Objetivo: que ao final o público [AÇÃO DESEJADA].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66344" y="3735324"/>
            <a:ext cx="48646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D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Crie: título, sumário executivo e estrutura de [N] slides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66344" y="3959352"/>
            <a:ext cx="48646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D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com título de cada slide e mensagem principal em 1 frase."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623560" y="1417320"/>
            <a:ext cx="3218688" cy="3493008"/>
          </a:xfrm>
          <a:prstGeom prst="rect">
            <a:avLst/>
          </a:prstGeom>
          <a:solidFill>
            <a:srgbClr val="0F1C2E"/>
          </a:solidFill>
          <a:ln w="12700">
            <a:solidFill>
              <a:srgbClr val="1E3A5F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623560" y="1417320"/>
            <a:ext cx="3218688" cy="3474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23560" y="1417320"/>
            <a:ext cx="32186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80E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ESTRUTURA GERADA PELA IA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742432" y="1874520"/>
            <a:ext cx="274320" cy="27432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742432" y="18745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80E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108192" y="1874520"/>
            <a:ext cx="26151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D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 + Contexto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742432" y="2258568"/>
            <a:ext cx="274320" cy="274320"/>
          </a:xfrm>
          <a:prstGeom prst="ellipse">
            <a:avLst/>
          </a:prstGeom>
          <a:solidFill>
            <a:srgbClr val="FF5F5F"/>
          </a:solidFill>
          <a:ln w="12700">
            <a:solidFill>
              <a:srgbClr val="FF5F5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742432" y="225856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80E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108192" y="2258568"/>
            <a:ext cx="26151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D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Problema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742432" y="2642616"/>
            <a:ext cx="274320" cy="274320"/>
          </a:xfrm>
          <a:prstGeom prst="ellipse">
            <a:avLst/>
          </a:prstGeom>
          <a:solidFill>
            <a:srgbClr val="FF5F5F"/>
          </a:solidFill>
          <a:ln w="12700">
            <a:solidFill>
              <a:srgbClr val="FF5F5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742432" y="264261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80E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108192" y="2642616"/>
            <a:ext cx="26151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D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 &amp; Urgência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742432" y="3026664"/>
            <a:ext cx="274320" cy="274320"/>
          </a:xfrm>
          <a:prstGeom prst="ellipse">
            <a:avLst/>
          </a:prstGeom>
          <a:solidFill>
            <a:srgbClr val="00D49A"/>
          </a:solidFill>
          <a:ln w="12700">
            <a:solidFill>
              <a:srgbClr val="00D49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742432" y="302666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80E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108192" y="3026664"/>
            <a:ext cx="26151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D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Nossa Solução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5742432" y="3410712"/>
            <a:ext cx="274320" cy="274320"/>
          </a:xfrm>
          <a:prstGeom prst="ellipse">
            <a:avLst/>
          </a:prstGeom>
          <a:solidFill>
            <a:srgbClr val="00D49A"/>
          </a:solidFill>
          <a:ln w="12700">
            <a:solidFill>
              <a:srgbClr val="00D49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742432" y="341071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80E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108192" y="3410712"/>
            <a:ext cx="26151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D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Funciona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5742432" y="3794760"/>
            <a:ext cx="274320" cy="274320"/>
          </a:xfrm>
          <a:prstGeom prst="ellipse">
            <a:avLst/>
          </a:prstGeom>
          <a:solidFill>
            <a:srgbClr val="00C2D4"/>
          </a:solidFill>
          <a:ln w="12700">
            <a:solidFill>
              <a:srgbClr val="00C2D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742432" y="37947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80E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108192" y="3794760"/>
            <a:ext cx="26151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D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Esperados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5742432" y="4178808"/>
            <a:ext cx="274320" cy="27432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742432" y="417880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80E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6108192" y="4178808"/>
            <a:ext cx="26151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D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Investimento &amp; Prazo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5742432" y="4562856"/>
            <a:ext cx="274320" cy="27432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742432" y="456285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80E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6108192" y="4562856"/>
            <a:ext cx="26151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D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Passos + CTA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8503920" y="480060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243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8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914400"/>
            <a:ext cx="3233318" cy="256032"/>
          </a:xfrm>
          <a:prstGeom prst="roundRect">
            <a:avLst>
              <a:gd name="adj" fmla="val 14286"/>
            </a:avLst>
          </a:prstGeom>
          <a:solidFill>
            <a:srgbClr val="00C2D4"/>
          </a:solidFill>
          <a:ln w="12700">
            <a:solidFill>
              <a:srgbClr val="00C2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314187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8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APRESENTAÇÕES — CONTEÚDO &amp; NOTAS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65760" y="475488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Conteúdo por Slide e Notas do Apresentador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07899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6.2 — IA como co-autor: texto, dados visuais e script de fala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320040" y="1417320"/>
            <a:ext cx="5120640" cy="2944368"/>
          </a:xfrm>
          <a:prstGeom prst="rect">
            <a:avLst/>
          </a:prstGeom>
          <a:solidFill>
            <a:srgbClr val="060D18"/>
          </a:solidFill>
          <a:ln w="19050">
            <a:solidFill>
              <a:srgbClr val="F97316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417320"/>
            <a:ext cx="5120640" cy="237744"/>
          </a:xfrm>
          <a:prstGeom prst="rect">
            <a:avLst/>
          </a:prstGeom>
          <a:solidFill>
            <a:srgbClr val="111E30"/>
          </a:solidFill>
          <a:ln w="12700">
            <a:solidFill>
              <a:srgbClr val="111E3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48056" y="1472184"/>
            <a:ext cx="128016" cy="128016"/>
          </a:xfrm>
          <a:prstGeom prst="ellipse">
            <a:avLst/>
          </a:prstGeom>
          <a:solidFill>
            <a:srgbClr val="FF5F5F"/>
          </a:solidFill>
          <a:ln w="12700">
            <a:solidFill>
              <a:srgbClr val="FF5F5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30936" y="1472184"/>
            <a:ext cx="128016" cy="128016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13816" y="1472184"/>
            <a:ext cx="128016" cy="128016"/>
          </a:xfrm>
          <a:prstGeom prst="ellipse">
            <a:avLst/>
          </a:prstGeom>
          <a:solidFill>
            <a:srgbClr val="00D49A"/>
          </a:solidFill>
          <a:ln w="12700">
            <a:solidFill>
              <a:srgbClr val="00D49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90872" y="1463040"/>
            <a:ext cx="6583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466344" y="1719072"/>
            <a:ext cx="48646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Prompt: Desenvolver Slide Específico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66344" y="1943100"/>
            <a:ext cx="48646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D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"Para o slide [N] — [TÍTULO], crie: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66344" y="2167128"/>
            <a:ext cx="48646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D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1. TÍTULO (máx 8 palavras, afirmação forte)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66344" y="2391156"/>
            <a:ext cx="48646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D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2. MENSAGEM PRINCIPAL (1 frase impactante)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66344" y="2615184"/>
            <a:ext cx="48646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D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3. CONTEÚDO (3–5 bullet points, máx 10 palavras cada)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66344" y="2839212"/>
            <a:ext cx="48646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D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4. VISUAL SUGERIDO (tipo de gráfico ou imagem)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66344" y="3063240"/>
            <a:ext cx="48646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D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5. NOTA DO APRESENTADOR (script de fala, 60 segundos)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66344" y="3287268"/>
            <a:ext cx="48646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D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Tom: [FORMAL/EXECUTIVO/TÉCNICO]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66344" y="3511296"/>
            <a:ext cx="48646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D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Contexto adicional: [DADOS OU CONTEXTO]"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0040" y="4480560"/>
            <a:ext cx="5120640" cy="438912"/>
          </a:xfrm>
          <a:prstGeom prst="rect">
            <a:avLst/>
          </a:prstGeom>
          <a:solidFill>
            <a:srgbClr val="172438"/>
          </a:solidFill>
          <a:ln w="12700">
            <a:solidFill>
              <a:srgbClr val="1E3A5F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57200" y="4507992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Tip: adicione "Mantenha consistência com o slide anterior [colar texto]" para garantir coerência narrativa entre slides.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623560" y="1417320"/>
            <a:ext cx="3218688" cy="3493008"/>
          </a:xfrm>
          <a:prstGeom prst="rect">
            <a:avLst/>
          </a:prstGeom>
          <a:solidFill>
            <a:srgbClr val="0F1C2E"/>
          </a:solidFill>
          <a:ln w="12700">
            <a:solidFill>
              <a:srgbClr val="1E3A5F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623560" y="1417320"/>
            <a:ext cx="3218688" cy="34747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23560" y="1417320"/>
            <a:ext cx="32186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NOTAS DO APRESENTADOR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742432" y="1856232"/>
            <a:ext cx="2971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 que incluir nas notas: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742432" y="2176272"/>
            <a:ext cx="2971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DDE8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▸ Gancho de abertura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742432" y="2423160"/>
            <a:ext cx="2971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Frase para prender a atenção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742432" y="2679192"/>
            <a:ext cx="2971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DDE8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▸ Dados de suporte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5742432" y="2926080"/>
            <a:ext cx="2971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Estatísticas que reforçam o ponto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5742432" y="3182112"/>
            <a:ext cx="2971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DDE8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▸ Transição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5742432" y="3429000"/>
            <a:ext cx="2971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conectar ao próximo slide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5742432" y="3685032"/>
            <a:ext cx="2971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DDE8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▸ Antecipação de objeção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5742432" y="3931920"/>
            <a:ext cx="2971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Perguntas prováveis e respostas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5742432" y="4187952"/>
            <a:ext cx="2971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DDE8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▸ Call-to-action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5742432" y="4434840"/>
            <a:ext cx="2971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pedir na conclusão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8503920" y="480060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243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8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914400"/>
            <a:ext cx="3412541" cy="256032"/>
          </a:xfrm>
          <a:prstGeom prst="roundRect">
            <a:avLst>
              <a:gd name="adj" fmla="val 14286"/>
            </a:avLst>
          </a:prstGeom>
          <a:solidFill>
            <a:srgbClr val="00C2D4"/>
          </a:solidFill>
          <a:ln w="12700">
            <a:solidFill>
              <a:srgbClr val="00C2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332110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8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INTEGRAÇÃO — FLUXO DO DIA COMPLETO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65760" y="475488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Um Dia de Trabalho com IA Integrada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07899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as 6 ferramentas se conectam em um fluxo real de trabalho</a:t>
            </a:r>
            <a:endParaRPr lang="en-US" sz="135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320040" y="1417320"/>
          <a:ext cx="4754880" cy="349300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5257800" y="1417320"/>
            <a:ext cx="3584448" cy="3493008"/>
          </a:xfrm>
          <a:prstGeom prst="rect">
            <a:avLst/>
          </a:prstGeom>
          <a:solidFill>
            <a:srgbClr val="0F1C2E"/>
          </a:solidFill>
          <a:ln w="12700">
            <a:solidFill>
              <a:srgbClr val="1E3A5F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257800" y="1417320"/>
            <a:ext cx="3584448" cy="347472"/>
          </a:xfrm>
          <a:prstGeom prst="rect">
            <a:avLst/>
          </a:prstGeom>
          <a:solidFill>
            <a:srgbClr val="1A4E8C"/>
          </a:solidFill>
          <a:ln w="12700">
            <a:solidFill>
              <a:srgbClr val="1A4E8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257800" y="1417320"/>
            <a:ext cx="35844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RESULTADO ACUMULADO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257800" y="1901952"/>
            <a:ext cx="358444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00C2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6h15</a:t>
            </a:r>
            <a:endParaRPr lang="en-US" sz="5200" dirty="0"/>
          </a:p>
        </p:txBody>
      </p:sp>
      <p:sp>
        <p:nvSpPr>
          <p:cNvPr id="11" name="Text 8"/>
          <p:cNvSpPr/>
          <p:nvPr/>
        </p:nvSpPr>
        <p:spPr>
          <a:xfrm>
            <a:off x="5257800" y="2578608"/>
            <a:ext cx="35844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economizadas por dia com IA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394960" y="2999232"/>
            <a:ext cx="3310128" cy="36576"/>
          </a:xfrm>
          <a:prstGeom prst="rect">
            <a:avLst/>
          </a:prstGeom>
          <a:solidFill>
            <a:srgbClr val="00C2D4"/>
          </a:solidFill>
          <a:ln w="12700">
            <a:solidFill>
              <a:srgbClr val="00C2D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257800" y="3182112"/>
            <a:ext cx="35844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C2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31h/semana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5257800" y="3474720"/>
            <a:ext cx="35844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colaborador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257800" y="3730752"/>
            <a:ext cx="35844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125h/mês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5257800" y="4023360"/>
            <a:ext cx="35844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colaborador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5257800" y="4279392"/>
            <a:ext cx="35844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D4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~15 dias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5257800" y="4572000"/>
            <a:ext cx="35844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produtividade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8503920" y="480060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243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8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1371600"/>
            <a:ext cx="4114800" cy="4114800"/>
          </a:xfrm>
          <a:prstGeom prst="ellipse">
            <a:avLst/>
          </a:prstGeom>
          <a:solidFill>
            <a:srgbClr val="F5A623">
              <a:alpha val="9000"/>
            </a:srgbClr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914400"/>
            <a:ext cx="2964485" cy="256032"/>
          </a:xfrm>
          <a:prstGeom prst="roundRect">
            <a:avLst>
              <a:gd name="adj" fmla="val 14286"/>
            </a:avLst>
          </a:prstGeom>
          <a:solidFill>
            <a:srgbClr val="00C2D4"/>
          </a:solidFill>
          <a:ln w="12700">
            <a:solidFill>
              <a:srgbClr val="00C2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0"/>
            <a:ext cx="287304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8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ATIVIDADE PRÁTICA INTEGRADORA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365760" y="475488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Desafio: Dia Completo com IA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65760" y="107899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Aplique as 6 ferramentas em situações reais da sua rotina — agora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274320" y="1417320"/>
            <a:ext cx="2788920" cy="1664208"/>
          </a:xfrm>
          <a:prstGeom prst="rect">
            <a:avLst/>
          </a:prstGeom>
          <a:solidFill>
            <a:srgbClr val="0F1C2E"/>
          </a:solidFill>
          <a:ln w="12700">
            <a:solidFill>
              <a:srgbClr val="1E3A5F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417320"/>
            <a:ext cx="2788920" cy="347472"/>
          </a:xfrm>
          <a:prstGeom prst="rect">
            <a:avLst/>
          </a:prstGeom>
          <a:solidFill>
            <a:srgbClr val="00C2D4"/>
          </a:solidFill>
          <a:ln w="12700">
            <a:solidFill>
              <a:srgbClr val="00C2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417320"/>
            <a:ext cx="2240280" cy="347472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0E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📧 E-mail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542032" y="1463040"/>
            <a:ext cx="475488" cy="256032"/>
          </a:xfrm>
          <a:prstGeom prst="roundRect">
            <a:avLst>
              <a:gd name="adj" fmla="val 14286"/>
            </a:avLst>
          </a:prstGeom>
          <a:solidFill>
            <a:srgbClr val="000000"/>
          </a:solidFill>
          <a:ln w="12700">
            <a:solidFill>
              <a:srgbClr val="080E1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42032" y="1463040"/>
            <a:ext cx="4754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8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11480" y="1828800"/>
            <a:ext cx="2514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D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Cole 5 e-mails da sua caixa de entrada. Peça à IA que classifique, resuma e sugira resposta para o mais urgente.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0" y="1417320"/>
            <a:ext cx="2788920" cy="1664208"/>
          </a:xfrm>
          <a:prstGeom prst="rect">
            <a:avLst/>
          </a:prstGeom>
          <a:solidFill>
            <a:srgbClr val="0F1C2E"/>
          </a:solidFill>
          <a:ln w="12700">
            <a:solidFill>
              <a:srgbClr val="1E3A5F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0" y="1417320"/>
            <a:ext cx="2788920" cy="34747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0" y="1417320"/>
            <a:ext cx="2240280" cy="347472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0E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📅 Agenda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68112" y="1463040"/>
            <a:ext cx="475488" cy="256032"/>
          </a:xfrm>
          <a:prstGeom prst="roundRect">
            <a:avLst>
              <a:gd name="adj" fmla="val 14286"/>
            </a:avLst>
          </a:prstGeom>
          <a:solidFill>
            <a:srgbClr val="000000"/>
          </a:solidFill>
          <a:ln w="12700">
            <a:solidFill>
              <a:srgbClr val="080E1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68112" y="1463040"/>
            <a:ext cx="4754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8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min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337560" y="1828800"/>
            <a:ext cx="2514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D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 as 10 tarefas que você tem para esta semana. Peça à IA para classificar em Q1-Q4 e gerar um time blocking para 5 dias.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126480" y="1417320"/>
            <a:ext cx="2788920" cy="1664208"/>
          </a:xfrm>
          <a:prstGeom prst="rect">
            <a:avLst/>
          </a:prstGeom>
          <a:solidFill>
            <a:srgbClr val="0F1C2E"/>
          </a:solidFill>
          <a:ln w="12700">
            <a:solidFill>
              <a:srgbClr val="1E3A5F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126480" y="1417320"/>
            <a:ext cx="2788920" cy="347472"/>
          </a:xfrm>
          <a:prstGeom prst="rect">
            <a:avLst/>
          </a:prstGeom>
          <a:solidFill>
            <a:srgbClr val="00D49A"/>
          </a:solidFill>
          <a:ln w="12700">
            <a:solidFill>
              <a:srgbClr val="00D49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26480" y="1417320"/>
            <a:ext cx="2240280" cy="347472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0E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✅ Tarefas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394192" y="1463040"/>
            <a:ext cx="475488" cy="256032"/>
          </a:xfrm>
          <a:prstGeom prst="roundRect">
            <a:avLst>
              <a:gd name="adj" fmla="val 14286"/>
            </a:avLst>
          </a:prstGeom>
          <a:solidFill>
            <a:srgbClr val="000000"/>
          </a:solidFill>
          <a:ln w="12700">
            <a:solidFill>
              <a:srgbClr val="080E1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394192" y="1463040"/>
            <a:ext cx="4754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8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min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263640" y="1828800"/>
            <a:ext cx="2514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D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Escolha uma reunião recente. Cole as anotações e peça à IA que extraia todas as ações com responsável e deadline.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74320" y="3246120"/>
            <a:ext cx="2788920" cy="1664208"/>
          </a:xfrm>
          <a:prstGeom prst="rect">
            <a:avLst/>
          </a:prstGeom>
          <a:solidFill>
            <a:srgbClr val="0F1C2E"/>
          </a:solidFill>
          <a:ln w="12700">
            <a:solidFill>
              <a:srgbClr val="1E3A5F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74320" y="3246120"/>
            <a:ext cx="278892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3246120"/>
            <a:ext cx="2240280" cy="347472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0E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📊 Planilha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2542032" y="3291840"/>
            <a:ext cx="475488" cy="256032"/>
          </a:xfrm>
          <a:prstGeom prst="roundRect">
            <a:avLst>
              <a:gd name="adj" fmla="val 14286"/>
            </a:avLst>
          </a:prstGeom>
          <a:solidFill>
            <a:srgbClr val="000000"/>
          </a:solidFill>
          <a:ln w="12700">
            <a:solidFill>
              <a:srgbClr val="080E1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542032" y="3291840"/>
            <a:ext cx="4754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8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min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11480" y="3657600"/>
            <a:ext cx="2514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D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Cole uma pequena tabela de dados do trabalho. Peça sumário executivo com insights, anomalias e recomendação de ação.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200400" y="3246120"/>
            <a:ext cx="2788920" cy="1664208"/>
          </a:xfrm>
          <a:prstGeom prst="rect">
            <a:avLst/>
          </a:prstGeom>
          <a:solidFill>
            <a:srgbClr val="0F1C2E"/>
          </a:solidFill>
          <a:ln w="12700">
            <a:solidFill>
              <a:srgbClr val="1E3A5F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200400" y="3246120"/>
            <a:ext cx="2788920" cy="34747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00400" y="3246120"/>
            <a:ext cx="2240280" cy="347472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0E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📄 Documento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468112" y="3291840"/>
            <a:ext cx="475488" cy="256032"/>
          </a:xfrm>
          <a:prstGeom prst="roundRect">
            <a:avLst>
              <a:gd name="adj" fmla="val 14286"/>
            </a:avLst>
          </a:prstGeom>
          <a:solidFill>
            <a:srgbClr val="000000"/>
          </a:solidFill>
          <a:ln w="12700">
            <a:solidFill>
              <a:srgbClr val="080E1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468112" y="3291840"/>
            <a:ext cx="4754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8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min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3337560" y="3657600"/>
            <a:ext cx="2514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D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Cole um documento ou relatório de 2-3 páginas. Peça: resumo executivo + 3 pontos principais + próximo passo recomendado.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126480" y="3246120"/>
            <a:ext cx="2788920" cy="1664208"/>
          </a:xfrm>
          <a:prstGeom prst="rect">
            <a:avLst/>
          </a:prstGeom>
          <a:solidFill>
            <a:srgbClr val="0F1C2E"/>
          </a:solidFill>
          <a:ln w="12700">
            <a:solidFill>
              <a:srgbClr val="1E3A5F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126480" y="3246120"/>
            <a:ext cx="2788920" cy="3474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126480" y="3246120"/>
            <a:ext cx="2240280" cy="347472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0E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📽️ Apresentação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8394192" y="3291840"/>
            <a:ext cx="475488" cy="256032"/>
          </a:xfrm>
          <a:prstGeom prst="roundRect">
            <a:avLst>
              <a:gd name="adj" fmla="val 14286"/>
            </a:avLst>
          </a:prstGeom>
          <a:solidFill>
            <a:srgbClr val="000000"/>
          </a:solidFill>
          <a:ln w="12700">
            <a:solidFill>
              <a:srgbClr val="080E1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394192" y="3291840"/>
            <a:ext cx="4754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8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263640" y="3657600"/>
            <a:ext cx="2514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D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Escolha uma ideia que você precisa apresentar. Peça à IA a estrutura completa de slides com mensagem principal de cada um.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8503920" y="480060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243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8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457200"/>
            <a:ext cx="4572000" cy="4572000"/>
          </a:xfrm>
          <a:prstGeom prst="ellipse">
            <a:avLst/>
          </a:prstGeom>
          <a:solidFill>
            <a:srgbClr val="00C2D4">
              <a:alpha val="10000"/>
            </a:srgbClr>
          </a:solidFill>
          <a:ln w="12700">
            <a:solidFill>
              <a:srgbClr val="00C2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0" y="2743200"/>
            <a:ext cx="4572000" cy="4572000"/>
          </a:xfrm>
          <a:prstGeom prst="ellipse">
            <a:avLst/>
          </a:prstGeom>
          <a:solidFill>
            <a:srgbClr val="8B5CF6">
              <a:alpha val="9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0" y="3200400"/>
            <a:ext cx="3200400" cy="3200400"/>
          </a:xfrm>
          <a:prstGeom prst="ellipse">
            <a:avLst/>
          </a:prstGeom>
          <a:solidFill>
            <a:srgbClr val="F5A623">
              <a:alpha val="7000"/>
            </a:srgbClr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68580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IA NÃO SUBSTITUI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365760" y="126187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C2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você pensa, decide e cria.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365760" y="1810512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IA executa mais rápido o que você já sabe fazer.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20040" y="2395728"/>
            <a:ext cx="1353312" cy="1508760"/>
          </a:xfrm>
          <a:prstGeom prst="rect">
            <a:avLst/>
          </a:prstGeom>
          <a:solidFill>
            <a:srgbClr val="0F1C2E"/>
          </a:solidFill>
          <a:ln w="12700">
            <a:solidFill>
              <a:srgbClr val="1E3A5F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39496" y="2459736"/>
            <a:ext cx="548640" cy="548640"/>
          </a:xfrm>
          <a:prstGeom prst="ellipse">
            <a:avLst/>
          </a:prstGeom>
          <a:solidFill>
            <a:srgbClr val="00C2D4">
              <a:alpha val="17000"/>
            </a:srgbClr>
          </a:solidFill>
          <a:ln w="19050">
            <a:solidFill>
              <a:srgbClr val="00C2D4"/>
            </a:solidFill>
            <a:prstDash val="solid"/>
          </a:ln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2514600"/>
            <a:ext cx="438912" cy="43891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320040" y="3017520"/>
            <a:ext cx="1353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C2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E-mail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320040" y="3310128"/>
            <a:ext cx="13533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IA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1783080" y="2395728"/>
            <a:ext cx="1353312" cy="1508760"/>
          </a:xfrm>
          <a:prstGeom prst="rect">
            <a:avLst/>
          </a:prstGeom>
          <a:solidFill>
            <a:srgbClr val="0F1C2E"/>
          </a:solidFill>
          <a:ln w="12700">
            <a:solidFill>
              <a:srgbClr val="1E3A5F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2002536" y="2459736"/>
            <a:ext cx="548640" cy="548640"/>
          </a:xfrm>
          <a:prstGeom prst="ellipse">
            <a:avLst/>
          </a:prstGeom>
          <a:solidFill>
            <a:srgbClr val="F5A623">
              <a:alpha val="17000"/>
            </a:srgbClr>
          </a:solidFill>
          <a:ln w="19050">
            <a:solidFill>
              <a:srgbClr val="F5A623"/>
            </a:solidFill>
            <a:prstDash val="solid"/>
          </a:ln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57400" y="2514600"/>
            <a:ext cx="438912" cy="43891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783080" y="3017520"/>
            <a:ext cx="1353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Agenda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1783080" y="3310128"/>
            <a:ext cx="13533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IA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3246120" y="2395728"/>
            <a:ext cx="1353312" cy="1508760"/>
          </a:xfrm>
          <a:prstGeom prst="rect">
            <a:avLst/>
          </a:prstGeom>
          <a:solidFill>
            <a:srgbClr val="0F1C2E"/>
          </a:solidFill>
          <a:ln w="12700">
            <a:solidFill>
              <a:srgbClr val="1E3A5F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3465576" y="2459736"/>
            <a:ext cx="548640" cy="548640"/>
          </a:xfrm>
          <a:prstGeom prst="ellipse">
            <a:avLst/>
          </a:prstGeom>
          <a:solidFill>
            <a:srgbClr val="00D49A">
              <a:alpha val="17000"/>
            </a:srgbClr>
          </a:solidFill>
          <a:ln w="19050">
            <a:solidFill>
              <a:srgbClr val="00D49A"/>
            </a:solidFill>
            <a:prstDash val="solid"/>
          </a:ln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20440" y="2514600"/>
            <a:ext cx="438912" cy="438912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3246120" y="3017520"/>
            <a:ext cx="1353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D4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Tarefas</a:t>
            </a:r>
            <a:endParaRPr lang="en-US" sz="1050" dirty="0"/>
          </a:p>
        </p:txBody>
      </p:sp>
      <p:sp>
        <p:nvSpPr>
          <p:cNvPr id="22" name="Text 17"/>
          <p:cNvSpPr/>
          <p:nvPr/>
        </p:nvSpPr>
        <p:spPr>
          <a:xfrm>
            <a:off x="3246120" y="3310128"/>
            <a:ext cx="13533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IA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4709160" y="2395728"/>
            <a:ext cx="1353312" cy="1508760"/>
          </a:xfrm>
          <a:prstGeom prst="rect">
            <a:avLst/>
          </a:prstGeom>
          <a:solidFill>
            <a:srgbClr val="0F1C2E"/>
          </a:solidFill>
          <a:ln w="12700">
            <a:solidFill>
              <a:srgbClr val="1E3A5F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4928616" y="2459736"/>
            <a:ext cx="548640" cy="548640"/>
          </a:xfrm>
          <a:prstGeom prst="ellipse">
            <a:avLst/>
          </a:prstGeom>
          <a:solidFill>
            <a:srgbClr val="0D9488">
              <a:alpha val="17000"/>
            </a:srgbClr>
          </a:solidFill>
          <a:ln w="19050">
            <a:solidFill>
              <a:srgbClr val="0D9488"/>
            </a:solidFill>
            <a:prstDash val="solid"/>
          </a:ln>
        </p:spPr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83480" y="2514600"/>
            <a:ext cx="438912" cy="438912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4709160" y="3017520"/>
            <a:ext cx="1353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Planilhas</a:t>
            </a:r>
            <a:endParaRPr lang="en-US" sz="1050" dirty="0"/>
          </a:p>
        </p:txBody>
      </p:sp>
      <p:sp>
        <p:nvSpPr>
          <p:cNvPr id="27" name="Text 21"/>
          <p:cNvSpPr/>
          <p:nvPr/>
        </p:nvSpPr>
        <p:spPr>
          <a:xfrm>
            <a:off x="4709160" y="3310128"/>
            <a:ext cx="13533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IA</a:t>
            </a:r>
            <a:endParaRPr lang="en-US" sz="1000" dirty="0"/>
          </a:p>
        </p:txBody>
      </p:sp>
      <p:sp>
        <p:nvSpPr>
          <p:cNvPr id="28" name="Shape 22"/>
          <p:cNvSpPr/>
          <p:nvPr/>
        </p:nvSpPr>
        <p:spPr>
          <a:xfrm>
            <a:off x="6172200" y="2395728"/>
            <a:ext cx="1353312" cy="1508760"/>
          </a:xfrm>
          <a:prstGeom prst="rect">
            <a:avLst/>
          </a:prstGeom>
          <a:solidFill>
            <a:srgbClr val="0F1C2E"/>
          </a:solidFill>
          <a:ln w="12700">
            <a:solidFill>
              <a:srgbClr val="1E3A5F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6391656" y="2459736"/>
            <a:ext cx="548640" cy="548640"/>
          </a:xfrm>
          <a:prstGeom prst="ellipse">
            <a:avLst/>
          </a:prstGeom>
          <a:solidFill>
            <a:srgbClr val="8B5CF6">
              <a:alpha val="17000"/>
            </a:srgbClr>
          </a:solidFill>
          <a:ln w="19050">
            <a:solidFill>
              <a:srgbClr val="8B5CF6"/>
            </a:solidFill>
            <a:prstDash val="solid"/>
          </a:ln>
        </p:spPr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46520" y="2514600"/>
            <a:ext cx="438912" cy="438912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6172200" y="3017520"/>
            <a:ext cx="1353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Documentos</a:t>
            </a:r>
            <a:endParaRPr lang="en-US" sz="1050" dirty="0"/>
          </a:p>
        </p:txBody>
      </p:sp>
      <p:sp>
        <p:nvSpPr>
          <p:cNvPr id="32" name="Text 25"/>
          <p:cNvSpPr/>
          <p:nvPr/>
        </p:nvSpPr>
        <p:spPr>
          <a:xfrm>
            <a:off x="6172200" y="3310128"/>
            <a:ext cx="13533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IA</a:t>
            </a:r>
            <a:endParaRPr lang="en-US" sz="1000" dirty="0"/>
          </a:p>
        </p:txBody>
      </p:sp>
      <p:sp>
        <p:nvSpPr>
          <p:cNvPr id="33" name="Shape 26"/>
          <p:cNvSpPr/>
          <p:nvPr/>
        </p:nvSpPr>
        <p:spPr>
          <a:xfrm>
            <a:off x="7635240" y="2395728"/>
            <a:ext cx="1353312" cy="1508760"/>
          </a:xfrm>
          <a:prstGeom prst="rect">
            <a:avLst/>
          </a:prstGeom>
          <a:solidFill>
            <a:srgbClr val="0F1C2E"/>
          </a:solidFill>
          <a:ln w="12700">
            <a:solidFill>
              <a:srgbClr val="1E3A5F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34" name="Shape 27"/>
          <p:cNvSpPr/>
          <p:nvPr/>
        </p:nvSpPr>
        <p:spPr>
          <a:xfrm>
            <a:off x="7854696" y="2459736"/>
            <a:ext cx="548640" cy="548640"/>
          </a:xfrm>
          <a:prstGeom prst="ellipse">
            <a:avLst/>
          </a:prstGeom>
          <a:solidFill>
            <a:srgbClr val="F97316">
              <a:alpha val="17000"/>
            </a:srgbClr>
          </a:solidFill>
          <a:ln w="19050">
            <a:solidFill>
              <a:srgbClr val="F97316"/>
            </a:solidFill>
            <a:prstDash val="solid"/>
          </a:ln>
        </p:spPr>
      </p:sp>
      <p:pic>
        <p:nvPicPr>
          <p:cNvPr id="3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09560" y="2514600"/>
            <a:ext cx="438912" cy="438912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7635240" y="3017520"/>
            <a:ext cx="1353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Apresentações</a:t>
            </a:r>
            <a:endParaRPr lang="en-US" sz="1050" dirty="0"/>
          </a:p>
        </p:txBody>
      </p:sp>
      <p:sp>
        <p:nvSpPr>
          <p:cNvPr id="37" name="Text 29"/>
          <p:cNvSpPr/>
          <p:nvPr/>
        </p:nvSpPr>
        <p:spPr>
          <a:xfrm>
            <a:off x="7635240" y="3310128"/>
            <a:ext cx="13533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IA</a:t>
            </a:r>
            <a:endParaRPr lang="en-US" sz="1000" dirty="0"/>
          </a:p>
        </p:txBody>
      </p:sp>
      <p:sp>
        <p:nvSpPr>
          <p:cNvPr id="38" name="Text 30"/>
          <p:cNvSpPr/>
          <p:nvPr/>
        </p:nvSpPr>
        <p:spPr>
          <a:xfrm>
            <a:off x="365760" y="4224528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nas Ferramentas do Dia a Dia  ·  Módulo Aplicado</a:t>
            </a:r>
            <a:endParaRPr lang="en-US" sz="1200" dirty="0"/>
          </a:p>
        </p:txBody>
      </p:sp>
      <p:sp>
        <p:nvSpPr>
          <p:cNvPr id="39" name="Text 31"/>
          <p:cNvSpPr/>
          <p:nvPr/>
        </p:nvSpPr>
        <p:spPr>
          <a:xfrm>
            <a:off x="365760" y="4517136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para Profissionais Administrativos</a:t>
            </a:r>
            <a:endParaRPr lang="en-US" sz="1100" dirty="0"/>
          </a:p>
        </p:txBody>
      </p:sp>
      <p:sp>
        <p:nvSpPr>
          <p:cNvPr id="40" name="Text 32"/>
          <p:cNvSpPr/>
          <p:nvPr/>
        </p:nvSpPr>
        <p:spPr>
          <a:xfrm>
            <a:off x="8503920" y="480060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243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2649</Words>
  <Application>Microsoft Office PowerPoint</Application>
  <PresentationFormat>Apresentação na tela (16:9)</PresentationFormat>
  <Paragraphs>436</Paragraphs>
  <Slides>21</Slides>
  <Notes>21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21</vt:i4>
      </vt:variant>
    </vt:vector>
  </HeadingPairs>
  <TitlesOfParts>
    <vt:vector size="26" baseType="lpstr">
      <vt:lpstr>Arial</vt:lpstr>
      <vt:lpstr>Calibri</vt:lpstr>
      <vt:lpstr>Courier New</vt:lpstr>
      <vt:lpstr>Trebuchet MS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IA nas Ferramentas do Dia a Dia</dc:title>
  <dc:subject>PptxGenJS Presentation</dc:subject>
  <dc:creator>PptxGenJS</dc:creator>
  <cp:lastModifiedBy>Alisson Beling</cp:lastModifiedBy>
  <cp:revision>1</cp:revision>
  <dcterms:created xsi:type="dcterms:W3CDTF">2026-06-02T05:37:45Z</dcterms:created>
  <dcterms:modified xsi:type="dcterms:W3CDTF">2026-06-02T14:46:48Z</dcterms:modified>
</cp:coreProperties>
</file>