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97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5029200" cy="5029200"/>
          </a:xfrm>
          <a:prstGeom prst="ellipse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6D6A0">
              <a:alpha val="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2926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144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PROMPT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Avançado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2788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RTF · CoT · RISEN · APE · TRACE · BAB · PARA e mais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828800" cy="1828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4407408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131C2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463040" y="4407408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131C2B"/>
          </a:solidFill>
          <a:ln w="19050">
            <a:solidFill>
              <a:srgbClr val="F4A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63040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RTF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560320" y="4407408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131C2B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0320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0" y="4407408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131C2B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RISEN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4407408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131C2B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52160" y="4407408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131C2B"/>
          </a:solidFill>
          <a:ln w="19050">
            <a:solidFill>
              <a:srgbClr val="E040F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0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949440" y="4407408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131C2B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49440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046720" y="4407408"/>
            <a:ext cx="1005840" cy="438912"/>
          </a:xfrm>
          <a:prstGeom prst="roundRect">
            <a:avLst>
              <a:gd name="adj" fmla="val 14583"/>
            </a:avLst>
          </a:prstGeom>
          <a:solidFill>
            <a:srgbClr val="131C2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440740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PROMPT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Estruturas de Prompt Importam?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um pedido vago e um resultado profissional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31920" cy="182880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3931920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SEM ESTRUTURA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"Cria um relatório de RH"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genérico, tom incerto, formato indefinido, raramente aproveitável diretamente.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103120"/>
            <a:ext cx="502920" cy="502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92040" y="1463040"/>
            <a:ext cx="3931920" cy="182880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92040" y="1463040"/>
            <a:ext cx="393192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COM ESTRUTURA (RISEN)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74920" y="1920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"Atue como Gerente de RH sênior. Crie relatório mensal de headcount em tabela Word..."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74920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documento estruturado, pronto para uso, no formato certo.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3520440"/>
            <a:ext cx="1965960" cy="1417320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20040" y="3611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8+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320040" y="4251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496312" y="3520440"/>
            <a:ext cx="1965960" cy="1417320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496312" y="3611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2496312" y="4251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72584" y="3520440"/>
            <a:ext cx="1965960" cy="1417320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672584" y="3611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4672584" y="4251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revisão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48856" y="3520440"/>
            <a:ext cx="1965960" cy="1417320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848856" y="3611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6848856" y="42519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PROMPT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das Estruturas de Prompt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frameworks organizados por finalidade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011680" cy="157276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566928" cy="566928"/>
          </a:xfrm>
          <a:prstGeom prst="ellipse">
            <a:avLst/>
          </a:prstGeom>
          <a:solidFill>
            <a:srgbClr val="00B4D8">
              <a:alpha val="18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075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4320" y="24140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completa de conteúdo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50592" y="1463040"/>
            <a:ext cx="2011680" cy="157276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79192" y="1508760"/>
            <a:ext cx="566928" cy="566928"/>
          </a:xfrm>
          <a:prstGeom prst="ellipse">
            <a:avLst/>
          </a:prstGeom>
          <a:solidFill>
            <a:srgbClr val="F4A400">
              <a:alpha val="18000"/>
            </a:srgbClr>
          </a:solidFill>
          <a:ln w="19050">
            <a:solidFill>
              <a:srgbClr val="F4A4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572768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50592" y="2075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RTF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450592" y="24140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+ Tarefa + Formato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26864" y="1463040"/>
            <a:ext cx="2011680" cy="157276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55464" y="1508760"/>
            <a:ext cx="566928" cy="566928"/>
          </a:xfrm>
          <a:prstGeom prst="ellipse">
            <a:avLst/>
          </a:prstGeom>
          <a:solidFill>
            <a:srgbClr val="06D6A0">
              <a:alpha val="18000"/>
            </a:srgbClr>
          </a:solidFill>
          <a:ln w="19050">
            <a:solidFill>
              <a:srgbClr val="06D6A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572768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26864" y="2075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26864" y="24140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passo a passo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803136" y="1463040"/>
            <a:ext cx="2011680" cy="157276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31736" y="1508760"/>
            <a:ext cx="566928" cy="566928"/>
          </a:xfrm>
          <a:prstGeom prst="ellipse">
            <a:avLst/>
          </a:prstGeom>
          <a:solidFill>
            <a:srgbClr val="7B61FF">
              <a:alpha val="18000"/>
            </a:srgbClr>
          </a:solidFill>
          <a:ln w="19050">
            <a:solidFill>
              <a:srgbClr val="7B61F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1572768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2075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RISEN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803136" y="241401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especialista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74320" y="3246120"/>
            <a:ext cx="2011680" cy="157276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02920" y="3291840"/>
            <a:ext cx="566928" cy="566928"/>
          </a:xfrm>
          <a:prstGeom prst="ellipse">
            <a:avLst/>
          </a:prstGeom>
          <a:solidFill>
            <a:srgbClr val="FF6B6B">
              <a:alpha val="18000"/>
            </a:srgbClr>
          </a:solidFill>
          <a:ln w="19050">
            <a:solidFill>
              <a:srgbClr val="FF6B6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355848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74320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274320" y="4197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+ Propósito + Expectativa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450592" y="3246120"/>
            <a:ext cx="2011680" cy="157276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2679192" y="3291840"/>
            <a:ext cx="566928" cy="566928"/>
          </a:xfrm>
          <a:prstGeom prst="ellipse">
            <a:avLst/>
          </a:prstGeom>
          <a:solidFill>
            <a:srgbClr val="E040FB">
              <a:alpha val="18000"/>
            </a:srgbClr>
          </a:solidFill>
          <a:ln w="19050">
            <a:solidFill>
              <a:srgbClr val="E040FB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3355848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450592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40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2450592" y="4197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com contexto rico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626864" y="3246120"/>
            <a:ext cx="2011680" cy="157276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855464" y="3291840"/>
            <a:ext cx="566928" cy="566928"/>
          </a:xfrm>
          <a:prstGeom prst="ellipse">
            <a:avLst/>
          </a:prstGeom>
          <a:solidFill>
            <a:srgbClr val="FF8C42">
              <a:alpha val="18000"/>
            </a:srgbClr>
          </a:solidFill>
          <a:ln w="19050">
            <a:solidFill>
              <a:srgbClr val="FF8C42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3355848"/>
            <a:ext cx="438912" cy="4389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626864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</a:t>
            </a:r>
            <a:endParaRPr lang="en-US" sz="1600" dirty="0"/>
          </a:p>
        </p:txBody>
      </p:sp>
      <p:sp>
        <p:nvSpPr>
          <p:cNvPr id="40" name="Text 31"/>
          <p:cNvSpPr/>
          <p:nvPr/>
        </p:nvSpPr>
        <p:spPr>
          <a:xfrm>
            <a:off x="4626864" y="4197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/ Depois / Ponte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803136" y="3246120"/>
            <a:ext cx="2011680" cy="157276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031736" y="3291840"/>
            <a:ext cx="566928" cy="566928"/>
          </a:xfrm>
          <a:prstGeom prst="ellipse">
            <a:avLst/>
          </a:prstGeom>
          <a:solidFill>
            <a:srgbClr val="00B4D8">
              <a:alpha val="18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744" y="3355848"/>
            <a:ext cx="438912" cy="43891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803136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6803136" y="419709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+ Ação + Resultado + Audiência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· Request · Examples · Adjustments · Type · Extras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4206240" cy="98755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1790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17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17922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 IA deve 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15544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"Atue como analista financeiro sênior"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4206240" cy="98755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517904"/>
            <a:ext cx="502920" cy="50292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17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13832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13832" y="17922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exatamente fazer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15544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um relatório de variação de despesas"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596896"/>
            <a:ext cx="4206240" cy="98755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70048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2944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do resultado esperado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88920" y="27066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"Similar ao modelo anexo abaixo"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4206240" cy="98755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670048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13832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Adjustments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13832" y="2944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e ajustes de tom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27066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 executivo, sem jargões técnicos"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749040"/>
            <a:ext cx="4206240" cy="98755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822192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78992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8992" y="4096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saída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88920" y="38587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 tabela Word, com totais por categoria"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749040"/>
            <a:ext cx="4206240" cy="98755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3822192"/>
            <a:ext cx="502920" cy="50292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513832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13832" y="4096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finais / contexto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38587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"Período: Janeiro 2024, moeda BRL"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EXEMPLO COMPLETO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na Prática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Financeiro · Tarefa: Relatório de despesas mensais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303520" cy="3493008"/>
          </a:xfrm>
          <a:prstGeom prst="rect">
            <a:avLst/>
          </a:prstGeom>
          <a:solidFill>
            <a:srgbClr val="0A0F1A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303520" cy="256032"/>
          </a:xfrm>
          <a:prstGeom prst="rect">
            <a:avLst/>
          </a:prstGeom>
          <a:solidFill>
            <a:srgbClr val="161F2E"/>
          </a:solidFill>
          <a:ln w="12700">
            <a:solidFill>
              <a:srgbClr val="161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481328"/>
            <a:ext cx="128016" cy="128016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481328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" y="17373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— Character: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" y="19705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"Atue como Controller Financeiro com 10 anos de experiência em empresas de varejo."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" y="22037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— Request: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" y="24368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um relatório executivo de despesas do mês de maio comparando com abril."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" y="2670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— Examples: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" y="29032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relatório deve ter visual similar ao modelo: Resumo → Tabela → Desvios → Ação."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" y="3136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— Adjustments: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33695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"Tom: direto e executivo. Sem repetição de dados. Máximo 1 página."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" y="36027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— Type: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" y="38359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"Formato: tabela no início + texto corrido. Destaque em negrito os desvios acima de 10%."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" y="4069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— Extras: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" y="43022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"Moeda BRL. Despesas: Pessoal R$120k, Marketing R$35k, TI R$22k, Outros R$18k."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06440" y="1417320"/>
            <a:ext cx="3017520" cy="3493008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1417320"/>
            <a:ext cx="301752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GERADO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1847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Tom executivo correto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2304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Tabela com totais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27614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Desvios destacados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32186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Máximo 1 página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36758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Período correto (Maio)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133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Formato pronto para usar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F4A400">
              <a:alpha val="9000"/>
            </a:srgbClr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RTF — Role · Task · Format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framework mais simples e versátil para o dia a dia administrativo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743200" cy="34930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44752"/>
            <a:ext cx="2743200" cy="475488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447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5087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 ·  Papel / Persona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QUEM a IA deve ser. Isso calibra o nível de expertise, o vocabulário e o ponto de vista da resposta.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154680"/>
            <a:ext cx="2468880" cy="73152"/>
          </a:xfrm>
          <a:prstGeom prst="rect">
            <a:avLst/>
          </a:prstGeom>
          <a:solidFill>
            <a:srgbClr val="F4A400">
              <a:alpha val="30000"/>
            </a:srgbClr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918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4A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"Atue como assistente jurídico especializado em direito trabalhista"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44752"/>
            <a:ext cx="2743200" cy="34930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44752"/>
            <a:ext cx="2743200" cy="4754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4447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49040" y="15087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 ·  Tarefa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011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fazer. Use verbos de ação claros: analise, crie, compare, resuma, liste, revise, explique.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3154680"/>
            <a:ext cx="2468880" cy="73152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2918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"Analise o contrato abaixo e identifique cláusulas com risco ao empregador"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444752"/>
            <a:ext cx="2743200" cy="34930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44752"/>
            <a:ext cx="274320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4447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0" y="15087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 ·  Formato de saída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20116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COMO entregar. Especifique: tipo de documento, extensão, estrutura, nível de detalhe.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3154680"/>
            <a:ext cx="2468880" cy="7315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29184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 lista numerada, máximo 10 itens, com risco classificado como Alto / Médio / Baixo"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 — EXEMPLOS POR ÁREA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RTF em 4 Áreas Administrativas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framework, aplicado de formas diferentes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24528" cy="171907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4224528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4224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837944"/>
            <a:ext cx="237744" cy="23774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379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8288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em Recursos Humanos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258568"/>
            <a:ext cx="237744" cy="23774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585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2494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política de home office para empresa com 80 funcionários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679192"/>
            <a:ext cx="237744" cy="23774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791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26700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Word: objetivo, regras, elegibilidade, penalidades. Máx. 2 páginas.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4224528" cy="171907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417320"/>
            <a:ext cx="4224528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417320"/>
            <a:ext cx="4224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18888" y="1837944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8379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48072" y="18288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Compras experiente em negociação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18888" y="2258568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2585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48072" y="224942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e-mail de negociação para reduzir 15% no preço do fornecedor 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18888" y="2679192"/>
            <a:ext cx="237744" cy="2377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6791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48072" y="26700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formal, 3 parágrafos, com argumentos de volume e prazo de pagamento.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4224528" cy="171907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91840"/>
            <a:ext cx="4224528" cy="329184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291840"/>
            <a:ext cx="4224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84048" y="3712464"/>
            <a:ext cx="237744" cy="237744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7124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" y="37033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com foco em análise de custos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133088"/>
            <a:ext cx="237744" cy="237744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1330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" y="41239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os dados abaixo e identifique os 3 maiores desvios orçamentários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" y="4553712"/>
            <a:ext cx="237744" cy="237744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553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" y="4544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Tabela: Categoria | Orçado | Realizado | Desvio% | Causa Provável | Ação Sugerida.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3291840"/>
            <a:ext cx="4224528" cy="1719072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291840"/>
            <a:ext cx="4224528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291840"/>
            <a:ext cx="4224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Atendimento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18888" y="3712464"/>
            <a:ext cx="237744" cy="23774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18888" y="37124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48072" y="37033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em Customer Success com foco em resolução de conflitos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18888" y="4133088"/>
            <a:ext cx="237744" cy="23774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41330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48072" y="412394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resposta para reclamação de cliente sobre atraso em entrega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18888" y="4553712"/>
            <a:ext cx="237744" cy="23774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45537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48072" y="4544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E-mail: reconhecimento, solução concreta, compensação e encerramento empático.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114800" cy="4114800"/>
          </a:xfrm>
          <a:prstGeom prst="ellipse">
            <a:avLst/>
          </a:prstGeom>
          <a:solidFill>
            <a:srgbClr val="06D6A0">
              <a:alpha val="9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— CHAIN OF THOUGHT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 — Chain of Thought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a IA raciocinar passo a passo antes de responder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10972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64008" cy="1097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904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Chain of Thought?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que instrui a IA a mostrar o raciocínio intermediário antes da resposta final. Produz respostas mais precisas, verificáveis e com lógica explícita — especialmente em análises complexas.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417320"/>
            <a:ext cx="3337560" cy="10972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1490472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usar: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178308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Análise de dados com múltiplas variáveis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00253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Decisões com critérios concorrentes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222199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Cálculos ou estimativas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244144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Diagnóstico de problemas complexos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2606040" cy="1645920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283464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0040" y="3547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Ativador CoT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8587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"Pense passo a passo..."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401568"/>
            <a:ext cx="365760" cy="3657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46120" y="2697480"/>
            <a:ext cx="2606040" cy="1645920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840480" y="2834640"/>
            <a:ext cx="594360" cy="59436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3246120" y="3547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Raciocínio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246120" y="38587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explica o processo</a:t>
            </a:r>
            <a:endParaRPr lang="en-US" sz="11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401568"/>
            <a:ext cx="365760" cy="3657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172200" y="2697480"/>
            <a:ext cx="2606040" cy="1645920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766560" y="2834640"/>
            <a:ext cx="594360" cy="5943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76656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6172200" y="3547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Resposta Final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172200" y="38587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verificável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— EXEMPLOS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 em 3 Versões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ativador simples ao CoT estruturado com etapas definidas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91440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 1 — Ativador Simples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64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"Preciso decidir entre renovar o contrato com o fornecedor atual ou trocar. Pense passo a passo antes de recomendar."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8503920" cy="96012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68880"/>
            <a:ext cx="64008" cy="960120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 2 — Etapas Explícitas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8163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"Analise a viabilidade de automatizar o processo de conciliação bancária. Siga estas etapas: (1) Identifique entradas e saídas do processo, (2) Avalie ferramentas disponíveis, (3) Estime o tempo economizado, (4) Liste riscos, (5) Dê uma recomendação final."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566160"/>
            <a:ext cx="8503920" cy="91440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66160"/>
            <a:ext cx="64008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630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Versão 3 — Zero-Shot CoT (o ativador mais poderoso)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913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"Temos 3 candidatos para a vaga de analista. [dados]. Vamos pensar passo a passo sobre qual melhor se encaixa no perfil antes de concluir."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RISEN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Instructions · Steps · End goal · Narrowing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56692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81328"/>
            <a:ext cx="429768" cy="4297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9264" y="15179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especialista detalhado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1527048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"Atue como Head de RH de empresa do setor de saúde com 500 funcionários"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12264"/>
            <a:ext cx="8503920" cy="56692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176272"/>
            <a:ext cx="429768" cy="4297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76272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" y="22128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9264" y="24323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Diretrizes específicas de como fazer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2221992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linguagem inclusiva. Não mencione salários. Destaque benefícios."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07208"/>
            <a:ext cx="8503920" cy="56692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871216"/>
            <a:ext cx="429768" cy="429768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7121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" y="2907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3127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etapas a seguir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34640" y="2916936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 Liste requisitos 2. Descreva responsabilidades 3. Finalize com fit cultural"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502152"/>
            <a:ext cx="8503920" cy="56692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566160"/>
            <a:ext cx="429768" cy="4297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66160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" y="36027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Goal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" y="3822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objetivo final do resultado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834640" y="3611880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objetivo é atrair candidatos Sênior com perfil analítico"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197096"/>
            <a:ext cx="8503920" cy="56692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4261104"/>
            <a:ext cx="429768" cy="42976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261104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9264" y="4297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Narrowing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264" y="45171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Restrições, limites e exclusões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834640" y="4306824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"Máx. 400 palavras. Sem siglas. Sem menção a regime de trabalho."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RISEN — EXEMPLO COMPLETO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RISEN: Job Description Completa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criar descrição de vaga para Analista de Compras Sênior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303520" cy="3493008"/>
          </a:xfrm>
          <a:prstGeom prst="rect">
            <a:avLst/>
          </a:prstGeom>
          <a:solidFill>
            <a:srgbClr val="0A0F1A"/>
          </a:solidFill>
          <a:ln w="1905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303520" cy="256032"/>
          </a:xfrm>
          <a:prstGeom prst="rect">
            <a:avLst/>
          </a:prstGeom>
          <a:solidFill>
            <a:srgbClr val="161F2E"/>
          </a:solidFill>
          <a:ln w="12700">
            <a:solidFill>
              <a:srgbClr val="161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481328"/>
            <a:ext cx="128016" cy="128016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481328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" y="17373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— Role: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" y="19705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"Atue como Head de Gente &amp; Gestão de uma empresa de logística com 300 func."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" y="22037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— Instructions: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" y="24368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linguagem direta, inclusiva e sem jargões. Foco em impacto e crescimento."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" y="2670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— Steps: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" y="29032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 Resumo do cargo (3 linhas)  2. Responsabilidades (8 itens)  3. Requisitos"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" y="31363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obrigatórios  4. Diferenciais  5. Perfil comportamental  6. O que oferecemos"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33695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— End Goal: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" y="36027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"Atrair profissionais Sênior que buscam desafio estratégico, não só operacional."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" y="38359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6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— Narrowing: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" y="4069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"Máx. 500 palavras. Sem menção a salário. Sem siglas. Tom: desafiador e humano."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06440" y="1417320"/>
            <a:ext cx="3017520" cy="3493008"/>
          </a:xfrm>
          <a:prstGeom prst="rect">
            <a:avLst/>
          </a:prstGeom>
          <a:solidFill>
            <a:srgbClr val="0A0F1A"/>
          </a:solidFill>
          <a:ln w="1270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06440" y="1417320"/>
            <a:ext cx="3017520" cy="3200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RISEN FUNCIONA AQUI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70448" y="1847088"/>
            <a:ext cx="2880360" cy="530352"/>
          </a:xfrm>
          <a:prstGeom prst="rect">
            <a:avLst/>
          </a:prstGeom>
          <a:solidFill>
            <a:srgbClr val="1A2640"/>
          </a:solidFill>
          <a:ln w="1270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0" y="188366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definida com detalhes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setor e tamanho de empresa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70448" y="2459736"/>
            <a:ext cx="2880360" cy="530352"/>
          </a:xfrm>
          <a:prstGeom prst="rect">
            <a:avLst/>
          </a:prstGeom>
          <a:solidFill>
            <a:srgbClr val="1A2640"/>
          </a:solidFill>
          <a:ln w="1270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2496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específicas 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e tom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70448" y="3072384"/>
            <a:ext cx="2880360" cy="530352"/>
          </a:xfrm>
          <a:prstGeom prst="rect">
            <a:avLst/>
          </a:prstGeom>
          <a:solidFill>
            <a:srgbClr val="1A2640"/>
          </a:solidFill>
          <a:ln w="1270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clara de 6 seções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sem esquecer nada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70448" y="3685032"/>
            <a:ext cx="2880360" cy="530352"/>
          </a:xfrm>
          <a:prstGeom prst="rect">
            <a:avLst/>
          </a:prstGeom>
          <a:solidFill>
            <a:srgbClr val="1A2640"/>
          </a:solidFill>
          <a:ln w="1270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0" y="3721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atração definido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IA calibra o argumento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70448" y="4297680"/>
            <a:ext cx="2880360" cy="530352"/>
          </a:xfrm>
          <a:prstGeom prst="rect">
            <a:avLst/>
          </a:prstGeom>
          <a:solidFill>
            <a:srgbClr val="1A2640"/>
          </a:solidFill>
          <a:ln w="12700">
            <a:solidFill>
              <a:srgbClr val="7B61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0" y="43342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evitam problemas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legais e de tamanho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828800"/>
            <a:ext cx="4114800" cy="4114800"/>
          </a:xfrm>
          <a:prstGeom prst="ellipse">
            <a:avLst/>
          </a:prstGeom>
          <a:solidFill>
            <a:srgbClr val="FF6B6B">
              <a:alpha val="9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 — Action · Purpose · Expectation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tarefas de comunicação e produção de conteúdo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5303520" cy="102412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527048"/>
            <a:ext cx="530352" cy="5303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270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5568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8470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concreta que a IA deve executar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5568" y="2075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"Escreva"  /  "Crie"  /  "Revise"  /  "Transforme"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633472"/>
            <a:ext cx="5303520" cy="102412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" y="2715768"/>
            <a:ext cx="530352" cy="53035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7157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5568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0358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esse conteúdo existe / qual o objetivo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15568" y="3264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 comunicar a mudança de política ao time de vendas"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5303520" cy="102412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3904488"/>
            <a:ext cx="530352" cy="53035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9044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15568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42245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resultado deve ser / o que se espera ver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15568" y="4453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 positivo. Foco nos benefícios. Evite linguagem de obrigação."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60720" y="1444752"/>
            <a:ext cx="3063240" cy="3493008"/>
          </a:xfrm>
          <a:prstGeom prst="rect">
            <a:avLst/>
          </a:prstGeom>
          <a:solidFill>
            <a:srgbClr val="0A0F1A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0" y="1444752"/>
            <a:ext cx="3063240" cy="256032"/>
          </a:xfrm>
          <a:prstGeom prst="rect">
            <a:avLst/>
          </a:prstGeom>
          <a:solidFill>
            <a:srgbClr val="161F2E"/>
          </a:solidFill>
          <a:ln w="12700">
            <a:solidFill>
              <a:srgbClr val="161F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08760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8192" y="1508760"/>
            <a:ext cx="128016" cy="128016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18504" y="1508760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149047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25312" y="176479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APE completo (área: RH):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25312" y="19979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"Escreva um comunicado interno anunciando a nova política de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35532" y="240083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benefícios flexíveis para os 120 colaboradores da empresa.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17513" y="292554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 objetivo é gerar adesão e entusiasmo, não apenas informar.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25312" y="347525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Expectativa: tom leve e motivador, máx. 200 palavras, destaque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897880" y="397360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 3 principais benefícios, termine com call-to-action para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25312" y="43708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acessar o portal de benefícios."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114800" cy="4114800"/>
          </a:xfrm>
          <a:prstGeom prst="ellipse">
            <a:avLst/>
          </a:prstGeom>
          <a:solidFill>
            <a:srgbClr val="E040FB">
              <a:alpha val="9000"/>
            </a:srgbClr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0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— Task · Request · Action · Context · Example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framework mais completo — para situações complexas ou de alto risco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35608"/>
            <a:ext cx="8503920" cy="603504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499616"/>
            <a:ext cx="457200" cy="457200"/>
          </a:xfrm>
          <a:prstGeom prst="ellipse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99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40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92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tarefa principal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93976"/>
            <a:ext cx="8503920" cy="603504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15798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específico dentro da tarefa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52344"/>
            <a:ext cx="8503920" cy="603504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2816352"/>
            <a:ext cx="457200" cy="45720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concretas que a IA deve executar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10712"/>
            <a:ext cx="8503920" cy="603504"/>
          </a:xfrm>
          <a:prstGeom prst="rect">
            <a:avLst/>
          </a:prstGeom>
          <a:solidFill>
            <a:srgbClr val="1A26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" y="347472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5840" y="3511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767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situacional completo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069080"/>
            <a:ext cx="8503920" cy="603504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4133088"/>
            <a:ext cx="457200" cy="4572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05840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425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 ou modelo de referência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1435608"/>
            <a:ext cx="4206240" cy="3493008"/>
          </a:xfrm>
          <a:prstGeom prst="rect">
            <a:avLst/>
          </a:prstGeom>
          <a:solidFill>
            <a:srgbClr val="0A0F1A"/>
          </a:solidFill>
          <a:ln w="19050">
            <a:solidFill>
              <a:srgbClr val="E040F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1435608"/>
            <a:ext cx="4206240" cy="256032"/>
          </a:xfrm>
          <a:prstGeom prst="rect">
            <a:avLst/>
          </a:prstGeom>
          <a:solidFill>
            <a:srgbClr val="161F2E"/>
          </a:solidFill>
          <a:ln w="12700">
            <a:solidFill>
              <a:srgbClr val="161F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499616"/>
            <a:ext cx="128016" cy="12801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5192" y="1499616"/>
            <a:ext cx="128016" cy="128016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75504" y="1499616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14813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82312" y="17556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— Task: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82312" y="19888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"Criar política de reembolso de despesas de viagem"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82312" y="2221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— Request: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782312" y="24551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"Documento formal para aprovar no comitê executivo"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782312" y="26883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— Actions: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82312" y="29215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"Definir limites, listar categorias aceitas, criar fluxo"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782312" y="31546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— Context: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82312" y="33878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"Empresa 200 func. Viagens nacionais e internacionais."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782312" y="36210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"Hoje sem política formal — aprovações ad hoc."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782312" y="38541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4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— Example: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82312" y="40873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"Similar à política da empresa [X] que segue padrão ABNT"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4114800" cy="4114800"/>
          </a:xfrm>
          <a:prstGeom prst="ellipse">
            <a:avLst/>
          </a:prstGeom>
          <a:solidFill>
            <a:srgbClr val="FF8C42">
              <a:alpha val="9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 — Before · After · Bridge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narrativo: mostre o problema, o ideal, e peça o caminho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0" cy="352044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74320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2646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·  BEFORE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situação atual (problema)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a dor, a ineficiência ou o estado atual que precisa mudar. Seja específico.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017520"/>
            <a:ext cx="2468880" cy="54864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5468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"Hoje nosso processo de onboarding dura 30 dias, não tem checklist, e cada gestor faz diferente. 40% dos novos contratados dizem que a integração foi confusa."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743200" cy="352044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17320"/>
            <a:ext cx="2743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42646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·  AFTER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938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desejado (objetivo)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21284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como deveria ser. O que o sucesso parece. O resultado que você quer alcançar.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37560" y="3017520"/>
            <a:ext cx="2468880" cy="54864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15468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"Queremos um onboarding de 15 dias, padronizado, com materiais prontos, onde o novo colaborador se sente seguro e produtivo na primeira semana."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743200" cy="352044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17320"/>
            <a:ext cx="27432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142646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·  BRIDGE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1938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para chegar lá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21284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peça o que a IA precisa criar/fazer para conectar o Before ao After.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017520"/>
            <a:ext cx="2468880" cy="54864"/>
          </a:xfrm>
          <a:prstGeom prst="rect">
            <a:avLst/>
          </a:prstGeom>
          <a:solidFill>
            <a:srgbClr val="FF8C42">
              <a:alpha val="3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15468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um programa de onboarding com checklist dia a dia, materiais de boas-vindas e roteiro para o gestor — tudo em formato editável."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— Problem · Action · Result · Audience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relatórios, propostas e comunicações executivas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206240" cy="164592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206240" cy="38404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 · 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ou situação que motivou o pedido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taxa de rotatividade subiu 18% no Q3, acima da meta de 10% estabelecida."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206240" cy="164592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42062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173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·  Action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que foi ou será tomada (o que a IA deve criar)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3042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um plano de retenção de talentos com 5 iniciativas priorizadas."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4206240" cy="164592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46120"/>
            <a:ext cx="420624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46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 ·  Result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esperado da saída — o sucesso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330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"Reduzir rotatividade para abaixo de 12% até o próximo trimestre."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4206240" cy="164592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46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·  Audience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703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o conteúdo será apresentado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41330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"Diretoria executiva — linguagem estratégica, sem operacional detalhado."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56032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COMPLEMENTARES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Mais 5 Técnicas Essenciais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· Zero-Shot · Self-Ask · Contrastivo · Meta-Prompt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743200" cy="16642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472184"/>
            <a:ext cx="539496" cy="539496"/>
          </a:xfrm>
          <a:prstGeom prst="ellipse">
            <a:avLst/>
          </a:prstGeom>
          <a:solidFill>
            <a:srgbClr val="00B4D8">
              <a:alpha val="18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619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Forneça 2-3 exemplos do que espera antes de pedir o resultado.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7907" y="24963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Ex.1: "E-mail cobrança [exemplo]"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Ex.2: "E-mail rejeição [exemplo]"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Agora crie: e-mail de aprovação de fornecedor.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00400" y="1417320"/>
            <a:ext cx="2743200" cy="16642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19272" y="1472184"/>
            <a:ext cx="539496" cy="539496"/>
          </a:xfrm>
          <a:prstGeom prst="ellipse">
            <a:avLst/>
          </a:prstGeom>
          <a:solidFill>
            <a:srgbClr val="F4A400">
              <a:alpha val="18000"/>
            </a:srgbClr>
          </a:solidFill>
          <a:ln w="19050">
            <a:solidFill>
              <a:srgbClr val="F4A4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53619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8328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claras sem exemplos — para tarefas diretas e bem definidas.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24871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"Crie um checklist de 10 itens para fechamento mensal do financeiro, ordenado por prioridade."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26480" y="1417320"/>
            <a:ext cx="2743200" cy="16642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45352" y="1472184"/>
            <a:ext cx="539496" cy="539496"/>
          </a:xfrm>
          <a:prstGeom prst="ellipse">
            <a:avLst/>
          </a:prstGeom>
          <a:solidFill>
            <a:srgbClr val="06D6A0">
              <a:alpha val="18000"/>
            </a:srgbClr>
          </a:solidFill>
          <a:ln w="19050">
            <a:solidFill>
              <a:srgbClr val="06D6A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3619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Self-Ask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09360" y="20116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Instrua a IA a se fazer perguntas e respondê-las antes de concluir.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09360" y="24871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"Antes de responder, </a:t>
            </a:r>
            <a:r>
              <a:rPr lang="en-US" sz="7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faça</a:t>
            </a:r>
            <a:r>
              <a:rPr lang="en-US" sz="80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perguntas a si mesmo sobre o que seria mais relevante para o RH neste relatório. Responda e então elabore."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274320" y="3246120"/>
            <a:ext cx="4114800" cy="16642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93192" y="3300984"/>
            <a:ext cx="539496" cy="539496"/>
          </a:xfrm>
          <a:prstGeom prst="ellipse">
            <a:avLst/>
          </a:prstGeom>
          <a:solidFill>
            <a:srgbClr val="7B61FF">
              <a:alpha val="18000"/>
            </a:srgbClr>
          </a:solidFill>
          <a:ln w="19050">
            <a:solidFill>
              <a:srgbClr val="7B61F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64992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Contrastivo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" y="38404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duas versões opostas para revelar a melhor abordagem.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43159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"Escreva dois comunicados sobre a mudança de horário: um que gera resistência e um que gera aceitação. Explique a diferença."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709160" y="3246120"/>
            <a:ext cx="4114800" cy="16642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828032" y="3300984"/>
            <a:ext cx="539496" cy="539496"/>
          </a:xfrm>
          <a:prstGeom prst="ellipse">
            <a:avLst/>
          </a:prstGeom>
          <a:solidFill>
            <a:srgbClr val="FF6B6B">
              <a:alpha val="18000"/>
            </a:srgbClr>
          </a:solidFill>
          <a:ln w="19050">
            <a:solidFill>
              <a:srgbClr val="FF6B6B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364992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86400" y="3364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Meta-Prompt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892040" y="38404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à IA que melhore o seu próprio prompt antes de executar.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892040" y="431596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"Antes de executar, otimize este prompt para gerar um resultado mais preciso e completo. Então execute o prompt melhorado."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FRAMEWORKS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Combinar Estruturas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melhores respostas vêm da combinação inteligente de frameworks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349300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Situação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Framework Principal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Complementar com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Porquê funciona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política interna complexa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estrutura, CoT garante lógica nas decisões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description atrativa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RISEN define o especialista, APE calibra o propósito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para diretoria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RTF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garante o foco no resultado, RTF define o formato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Resolver problema com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Few-Shot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raciocina, Few-Shot calibra o padrão de saída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Comunicado de mudança difícil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 cria a narrativa, APE define o efeito desejado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que você não sabe fazer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qualquer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IA melhora seu prompt antes de executar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37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ESCOLHA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Framework Usar?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 rápida para o dia a dia administrativo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7498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813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Preciso criar um documento do zero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554480"/>
            <a:ext cx="1536192" cy="402336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554480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ou RISEN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160520" cy="7498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8132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Tarefa de comunicação / texto persuasivo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1554480"/>
            <a:ext cx="1536192" cy="402336"/>
          </a:xfrm>
          <a:prstGeom prst="roundRect">
            <a:avLst>
              <a:gd name="adj" fmla="val 13636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554480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 ou BAB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4160520" cy="7498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3774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Análise que precisa de lógica verificável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450592"/>
            <a:ext cx="1536192" cy="402336"/>
          </a:xfrm>
          <a:prstGeom prst="roundRect">
            <a:avLst>
              <a:gd name="adj" fmla="val 1363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450592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313432"/>
            <a:ext cx="4160520" cy="7498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3774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Tarefa rápida e bem definida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2450592"/>
            <a:ext cx="1536192" cy="402336"/>
          </a:xfrm>
          <a:prstGeom prst="roundRect">
            <a:avLst>
              <a:gd name="adj" fmla="val 13636"/>
            </a:avLst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450592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09544"/>
            <a:ext cx="4160520" cy="7498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27355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Situação complexa com muito contexto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3346704"/>
            <a:ext cx="1536192" cy="402336"/>
          </a:xfrm>
          <a:prstGeom prst="roundRect">
            <a:avLst>
              <a:gd name="adj" fmla="val 13636"/>
            </a:avLst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346704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209544"/>
            <a:ext cx="4160520" cy="7498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27355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Relatório ou proposta para liderança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3346704"/>
            <a:ext cx="1536192" cy="402336"/>
          </a:xfrm>
          <a:prstGeom prst="roundRect">
            <a:avLst>
              <a:gd name="adj" fmla="val 13636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346704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05656"/>
            <a:ext cx="4160520" cy="7498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16966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Mostrar o antes e o depois de uma mudança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17520" y="4242816"/>
            <a:ext cx="1536192" cy="402336"/>
          </a:xfrm>
          <a:prstGeom prst="roundRect">
            <a:avLst>
              <a:gd name="adj" fmla="val 13636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4242816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4105656"/>
            <a:ext cx="4160520" cy="7498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416966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Não sei exatamente o que pedir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06640" y="4242816"/>
            <a:ext cx="1536192" cy="402336"/>
          </a:xfrm>
          <a:prstGeom prst="roundRect">
            <a:avLst>
              <a:gd name="adj" fmla="val 13636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4242816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Meta-Prompt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4114800" cy="4114800"/>
          </a:xfrm>
          <a:prstGeom prst="ellipse">
            <a:avLst/>
          </a:prstGeom>
          <a:solidFill>
            <a:srgbClr val="06D6A0">
              <a:alpha val="9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19456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PRÁTICO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Desafio: Construa seu Prompt Estruturado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framework, construa o prompt e teste agora!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486400" cy="3493008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486400" cy="384048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MISSÃO — 15 MINUTOS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47472" cy="34747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19202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uma tarefa REAL da sua área de trabalho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347472" cy="34747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14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41401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qual framework se aplica melhor (use o guia)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347472" cy="34747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907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prompt completo seguindo a estrutura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347472" cy="34747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34015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na ferramenta de IA e gere o resultado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347472" cy="34747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95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8953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um prompt simples sem estrutura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47472" cy="34747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89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" y="4389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a diferença para o grupo (2 minutos)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89320" y="1417320"/>
            <a:ext cx="2834640" cy="3493008"/>
          </a:xfrm>
          <a:prstGeom prst="rect">
            <a:avLst/>
          </a:prstGeom>
          <a:solidFill>
            <a:srgbClr val="1A2640"/>
          </a:solidFill>
          <a:ln w="12700">
            <a:solidFill>
              <a:srgbClr val="F4A40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 RÁPIDA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19202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920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52360" y="19202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9050">
            <a:solidFill>
              <a:srgbClr val="F4A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1920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RTF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26480" y="2578608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5786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452360" y="2578608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5786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RISEN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26480" y="3236976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23697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52360" y="3236976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9050">
            <a:solidFill>
              <a:srgbClr val="E040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323697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0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26480" y="3895344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389534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452360" y="3895344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389534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4114800" cy="4114800"/>
          </a:xfrm>
          <a:prstGeom prst="ellipse">
            <a:avLst/>
          </a:prstGeom>
          <a:solidFill>
            <a:srgbClr val="06D6A0">
              <a:alpha val="9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VOCÊ AGORA DOMINA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Estruturas de Prompt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1005840" cy="20116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rgbClr val="00B4D8">
              <a:alpha val="18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371600" y="1965960"/>
            <a:ext cx="1005840" cy="20116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54480" y="2103120"/>
            <a:ext cx="640080" cy="640080"/>
          </a:xfrm>
          <a:prstGeom prst="ellipse">
            <a:avLst/>
          </a:prstGeom>
          <a:solidFill>
            <a:srgbClr val="F4A400">
              <a:alpha val="18000"/>
            </a:srgbClr>
          </a:solidFill>
          <a:ln w="19050">
            <a:solidFill>
              <a:srgbClr val="F4A4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488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468880" y="1965960"/>
            <a:ext cx="1005840" cy="20116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651760" y="2103120"/>
            <a:ext cx="640080" cy="640080"/>
          </a:xfrm>
          <a:prstGeom prst="ellipse">
            <a:avLst/>
          </a:prstGeom>
          <a:solidFill>
            <a:srgbClr val="06D6A0">
              <a:alpha val="18000"/>
            </a:srgbClr>
          </a:solidFill>
          <a:ln w="19050">
            <a:solidFill>
              <a:srgbClr val="06D6A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1488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68880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566160" y="1965960"/>
            <a:ext cx="1005840" cy="20116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749040" y="2103120"/>
            <a:ext cx="640080" cy="640080"/>
          </a:xfrm>
          <a:prstGeom prst="ellipse">
            <a:avLst/>
          </a:prstGeom>
          <a:solidFill>
            <a:srgbClr val="7B61FF">
              <a:alpha val="18000"/>
            </a:srgbClr>
          </a:solidFill>
          <a:ln w="19050">
            <a:solidFill>
              <a:srgbClr val="7B61F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21488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566160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RISEN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663440" y="1965960"/>
            <a:ext cx="1005840" cy="20116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2103120"/>
            <a:ext cx="640080" cy="640080"/>
          </a:xfrm>
          <a:prstGeom prst="ellipse">
            <a:avLst/>
          </a:prstGeom>
          <a:solidFill>
            <a:srgbClr val="FF6B6B">
              <a:alpha val="18000"/>
            </a:srgbClr>
          </a:solidFill>
          <a:ln w="19050">
            <a:solidFill>
              <a:srgbClr val="FF6B6B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14884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663440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760720" y="1965960"/>
            <a:ext cx="1005840" cy="20116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943600" y="2103120"/>
            <a:ext cx="640080" cy="640080"/>
          </a:xfrm>
          <a:prstGeom prst="ellipse">
            <a:avLst/>
          </a:prstGeom>
          <a:solidFill>
            <a:srgbClr val="E040FB">
              <a:alpha val="18000"/>
            </a:srgbClr>
          </a:solidFill>
          <a:ln w="19050">
            <a:solidFill>
              <a:srgbClr val="E040FB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2148840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760720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40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858000" y="1965960"/>
            <a:ext cx="1005840" cy="20116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040880" y="2103120"/>
            <a:ext cx="640080" cy="640080"/>
          </a:xfrm>
          <a:prstGeom prst="ellipse">
            <a:avLst/>
          </a:prstGeom>
          <a:solidFill>
            <a:srgbClr val="FF8C42">
              <a:alpha val="18000"/>
            </a:srgbClr>
          </a:solidFill>
          <a:ln w="19050">
            <a:solidFill>
              <a:srgbClr val="FF8C42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2148840"/>
            <a:ext cx="548640" cy="5486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58000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7955280" y="1965960"/>
            <a:ext cx="1005840" cy="2011680"/>
          </a:xfrm>
          <a:prstGeom prst="rect">
            <a:avLst/>
          </a:prstGeom>
          <a:solidFill>
            <a:srgbClr val="131C2B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8138160" y="2103120"/>
            <a:ext cx="640080" cy="640080"/>
          </a:xfrm>
          <a:prstGeom prst="ellipse">
            <a:avLst/>
          </a:prstGeom>
          <a:solidFill>
            <a:srgbClr val="00B4D8">
              <a:alpha val="18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80" y="2148840"/>
            <a:ext cx="548640" cy="54864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955280" y="28346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365760" y="41330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nível: combine dois frameworks no mesmo prompt.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o Administrativo — Módulo Avançado: Estruturas de Prompt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2518</Words>
  <Application>Microsoft Office PowerPoint</Application>
  <PresentationFormat>Apresentação na tela (16:9)</PresentationFormat>
  <Paragraphs>455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de Prompt — Módulo Avançado</dc:title>
  <dc:subject>PptxGenJS Presentation</dc:subject>
  <dc:creator>PptxGenJS</dc:creator>
  <cp:lastModifiedBy>Alisson Beling</cp:lastModifiedBy>
  <cp:revision>2</cp:revision>
  <dcterms:created xsi:type="dcterms:W3CDTF">2026-06-02T05:23:29Z</dcterms:created>
  <dcterms:modified xsi:type="dcterms:W3CDTF">2026-06-02T15:26:37Z</dcterms:modified>
</cp:coreProperties>
</file>