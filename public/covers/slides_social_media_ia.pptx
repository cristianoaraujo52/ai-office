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C13584">
              <a:alpha val="10000"/>
            </a:srgbClr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0077B5">
              <a:alpha val="9000"/>
            </a:srgbClr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833AB4">
              <a:alpha val="8000"/>
            </a:srgbClr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474720"/>
          </a:xfrm>
          <a:prstGeom prst="rect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412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66928" y="224942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Inteligência Artificial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724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· Legendas · Hashtags · Automações · Networking · Calendário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0"/>
            <a:ext cx="1371600" cy="13716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103120"/>
            <a:ext cx="1371600" cy="137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C1358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82880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833AB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82880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Legendas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29184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F777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Reels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75488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FCAF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CA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1792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0077B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Automações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680960" y="3520440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0F1C2E"/>
          </a:solidFill>
          <a:ln w="19050">
            <a:solidFill>
              <a:srgbClr val="00447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80960" y="352044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4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C13584">
              <a:alpha val="11000"/>
            </a:srgbClr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90979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1799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 IA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 Inteligência Artificial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aplicações práticas — do planejamento à análise de métricas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" y="2670048"/>
            <a:ext cx="493776" cy="493776"/>
          </a:xfrm>
          <a:prstGeom prst="ellipse">
            <a:avLst/>
          </a:prstGeom>
          <a:solidFill>
            <a:srgbClr val="C13584">
              <a:alpha val="18000"/>
            </a:srgbClr>
          </a:solidFill>
          <a:ln w="19050">
            <a:solidFill>
              <a:srgbClr val="C135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249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Editorial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27832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28416" y="2670048"/>
            <a:ext cx="493776" cy="493776"/>
          </a:xfrm>
          <a:prstGeom prst="ellipse">
            <a:avLst/>
          </a:prstGeom>
          <a:solidFill>
            <a:srgbClr val="833AB4">
              <a:alpha val="18000"/>
            </a:srgbClr>
          </a:solidFill>
          <a:ln w="19050">
            <a:solidFill>
              <a:srgbClr val="833AB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249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Legendas &amp; Ganchos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35624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36208" y="2670048"/>
            <a:ext cx="493776" cy="493776"/>
          </a:xfrm>
          <a:prstGeom prst="ellipse">
            <a:avLst/>
          </a:prstGeom>
          <a:solidFill>
            <a:srgbClr val="F77737">
              <a:alpha val="18000"/>
            </a:srgbClr>
          </a:solidFill>
          <a:ln w="19050">
            <a:solidFill>
              <a:srgbClr val="F7773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72491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21424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 de Reels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320040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20624" y="2670048"/>
            <a:ext cx="493776" cy="493776"/>
          </a:xfrm>
          <a:prstGeom prst="ellipse">
            <a:avLst/>
          </a:prstGeom>
          <a:solidFill>
            <a:srgbClr val="FCAF45">
              <a:alpha val="18000"/>
            </a:srgbClr>
          </a:solidFill>
          <a:ln w="19050">
            <a:solidFill>
              <a:srgbClr val="FCAF4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249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Hashtags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227832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328416" y="2670048"/>
            <a:ext cx="493776" cy="493776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72491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13632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Agendamento Auto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35624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36208" y="2670048"/>
            <a:ext cx="493776" cy="493776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724912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21424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com IA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324758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2333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CALENDÁRIO EDITORIAL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 Mensal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defina o perfil · Passo 2: prompt · Passo 3: planilha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84248" cy="141732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0140" y="1508760"/>
            <a:ext cx="475488" cy="475488"/>
          </a:xfrm>
          <a:prstGeom prst="ellipse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Defina o perfil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Nicho, público, tom,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frequência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91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1417320"/>
            <a:ext cx="1984248" cy="141732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7540" y="1508760"/>
            <a:ext cx="475488" cy="475488"/>
          </a:xfrm>
          <a:prstGeom prst="ellipse">
            <a:avLst/>
          </a:prstGeom>
          <a:solidFill>
            <a:srgbClr val="833AB4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75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 prompt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2395728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ChatGPT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Claude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165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1417320"/>
            <a:ext cx="1984248" cy="141732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4940" y="1508760"/>
            <a:ext cx="475488" cy="475488"/>
          </a:xfrm>
          <a:prstGeom prst="ellipse">
            <a:avLst/>
          </a:prstGeom>
          <a:solidFill>
            <a:srgbClr val="F77737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49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805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Exporte para planilha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395728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status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responsável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39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1417320"/>
            <a:ext cx="1984248" cy="141732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92340" y="1508760"/>
            <a:ext cx="475488" cy="475488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23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395728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comemorativas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tendências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8503920" cy="1920240"/>
          </a:xfrm>
          <a:prstGeom prst="rect">
            <a:avLst/>
          </a:prstGeom>
          <a:solidFill>
            <a:srgbClr val="060D18"/>
          </a:solidFill>
          <a:ln w="19050">
            <a:solidFill>
              <a:srgbClr val="C1358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99232"/>
            <a:ext cx="850392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3054096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30540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" y="3054096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74152" y="30449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344" y="3300984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3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Calendário Editorial Instagram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" y="3515868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Atue como estrategista de redes sociais do nicho [NICHO].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" y="3730752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calendário editorial para [MÊS] com [N] posts/semana.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" y="3945636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Perfil: [DESCREVER]. Público: [DESCREVER]. Obj: [OBJETIVO].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" y="4160520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post: Dia, Formato (feed/carrossel/Reels/Stories),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" y="4375404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Tema, Gancho de abertura, Tipo de CTA.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" y="4590288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Organize em tabela.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249424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LEGENDAS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Criando Legendas de Alto Engajamento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· Tipos de prompt · Banco de ganchos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347472"/>
          </a:xfrm>
          <a:prstGeom prst="rect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IDEAL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542032" cy="658368"/>
          </a:xfrm>
          <a:prstGeom prst="rect">
            <a:avLst/>
          </a:prstGeom>
          <a:solidFill>
            <a:srgbClr val="0A0D18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GANCHO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167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scroll na 1ª linha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2542032" cy="658368"/>
          </a:xfrm>
          <a:prstGeom prst="rect">
            <a:avLst/>
          </a:prstGeom>
          <a:solidFill>
            <a:srgbClr val="0A0D18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517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8986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em parágrafos curtos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2542032" cy="658368"/>
          </a:xfrm>
          <a:prstGeom prst="rect">
            <a:avLst/>
          </a:prstGeom>
          <a:solidFill>
            <a:srgbClr val="0A0D18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832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630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Salvar, comentar, clicar no link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069080"/>
            <a:ext cx="2542032" cy="658368"/>
          </a:xfrm>
          <a:prstGeom prst="rect">
            <a:avLst/>
          </a:prstGeom>
          <a:solidFill>
            <a:srgbClr val="0A0D18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1148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4361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relevantes ao nicho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1417320"/>
            <a:ext cx="5596128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C1358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417320"/>
            <a:ext cx="5596128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74136" y="147218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701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989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92424" y="1719072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3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Legenda Educativa (Carrossel)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92424" y="1933956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legenda para post educativo sobre [TEMA].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92424" y="2148840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Perfil: [DESCREVER]. Tom: [TOM].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92424" y="2363724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obrigatória: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92424" y="2578608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 Gancho — gere curiosidade sem entregar tudo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92424" y="2793492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 3–4 parágrafos curtos e didáticos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92424" y="3008376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 CTA para salvar ou comentar palavra-chave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92424" y="3223260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(4) 10 hashtags do nicho [NICHO]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92424" y="3438144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Limite: 2200 caracteres.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055925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964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REELS &amp; CARROSSEL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Roteiros de Reels e Scripts de Carrossel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o roteiro completo cena a cena e slide a slide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F77737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 ROTEIRO DE REELS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F7773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7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Roteiro de Reels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roteiro para Reels de [30s/60s] sobre [TEMA].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[TUTORIAL/LISTA/OPINIÃO/STORY].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cena/corte: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Texto na tela (legenda sobreposta)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Narração/fala (o que dizer)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Ação visual (o que mostrar)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363474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Duração estimada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384962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Gancho nos primeiros 3 segundos.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06450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Terminar com CTA claro.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833AB4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📑  SCRIPT DE CARROSSEL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833A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64424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33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82896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3A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Carrossel [N] slides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82896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script completo do carrossel sobre [TEMA].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82896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slide: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82896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Número e título (máx. 6 palavras)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82896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Texto do corpo (máx. 3 linhas)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82896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Visual sugerido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82896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 = capa com gancho forte.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82896" y="363474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Último slide = CTA.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82896" y="384962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Progressão lógica entre slides.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503981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412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HASHTAGS &amp; AGENDAMENTO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Hashtags Estratégicas e Agendamento Automático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os conjuntos · Meta Business Suite agenda de graça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FCAF45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  CONJUNTOS DE HASHTAGS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3913632" cy="621792"/>
          </a:xfrm>
          <a:prstGeom prst="rect">
            <a:avLst/>
          </a:prstGeom>
          <a:solidFill>
            <a:srgbClr val="0A0D18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476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Conjunto 1 — Alcance Amplo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&gt;1M posts · 5 hashtags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3913632" cy="621792"/>
          </a:xfrm>
          <a:prstGeom prst="rect">
            <a:avLst/>
          </a:prstGeom>
          <a:solidFill>
            <a:srgbClr val="0A0D18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Conjunto 2 — Nicho Médio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100k–1M posts · 5 hashtags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310128"/>
            <a:ext cx="3913632" cy="621792"/>
          </a:xfrm>
          <a:prstGeom prst="rect">
            <a:avLst/>
          </a:prstGeom>
          <a:solidFill>
            <a:srgbClr val="0A0D18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55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Conjunto 3 — Nicho Específico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&lt;100k posts · 5 hashtags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014216"/>
            <a:ext cx="3913632" cy="621792"/>
          </a:xfrm>
          <a:prstGeom prst="rect">
            <a:avLst/>
          </a:prstGeom>
          <a:solidFill>
            <a:srgbClr val="0A0D18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599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Localidade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2885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Cidade/Estado · 2–3 hashtags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META BUSINESS SUITE (GRÁTIS)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938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business.facebook.com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66360" y="2139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conta do Facebook conectada ao IG Business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404872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04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Post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66360" y="2624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perfil do Instagram + imagem/vídeo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89504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889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 a legenda da IA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6636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+ hashtags no campo de legenda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374136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374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392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Clique em 'Agendar'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66360" y="3593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data e hora exata de publicação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858768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38770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visual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66360" y="40782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posts para reposicionar datas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324758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2333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AUTOMAÇÃO &amp; MÉTRICAS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Respostas Automáticas e Análise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ManyChat para DMs automáticos · Prompt para interpretar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RESPOSTA AUTOMÁTICA (DM)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Configuração nativa (Instagram Business):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256032" cy="256032"/>
          </a:xfrm>
          <a:prstGeom prst="ellipse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12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Configurações → Ferramentas de Negócios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432304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Mensagens Automáticas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256032" cy="256032"/>
          </a:xfrm>
          <a:prstGeom prst="ellipse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734056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 mensagem de boas-vindas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935224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envia DM pela 1ª vez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256032" cy="256032"/>
          </a:xfrm>
          <a:prstGeom prst="ellipse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18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236976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 o template gerado pela 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438144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 com nome do negócio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ManyChat: automação avançada com palavra-chave nos comentários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C1358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417320"/>
            <a:ext cx="4178808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47218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743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572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9744" y="17190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3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Análise de Métricas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9744" y="193395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 as métricas do Instagram abaixo e forneça: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9744" y="214884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 que está funcionando (top 3 insights +)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2363724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O que precisa melhorar (top 3 atenção)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9744" y="2578608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Padrões nos posts de maior engajamento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9744" y="279349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Estratégia recomendada para o próximo mês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9744" y="300837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3 testes A/B a fazer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9744" y="322326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Métricas: [COLAR DADOS DO INSIGHTS]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029200" cy="5029200"/>
          </a:xfrm>
          <a:prstGeom prst="ellipse">
            <a:avLst/>
          </a:prstGeom>
          <a:solidFill>
            <a:srgbClr val="0077B5">
              <a:alpha val="11000"/>
            </a:srgbClr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01368" cy="256032"/>
          </a:xfrm>
          <a:prstGeom prst="roundRect">
            <a:avLst>
              <a:gd name="adj" fmla="val 14286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COM IA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21792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365760" y="13167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 Inteligência Artificial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profissional · Networking · Geração de oportunidades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" y="2670048"/>
            <a:ext cx="493776" cy="493776"/>
          </a:xfrm>
          <a:prstGeom prst="ellipse">
            <a:avLst/>
          </a:prstGeom>
          <a:solidFill>
            <a:srgbClr val="0077B5">
              <a:alpha val="18000"/>
            </a:srgbClr>
          </a:solidFill>
          <a:ln w="19050">
            <a:solidFill>
              <a:srgbClr val="0077B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249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Otimizar Perfil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27832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28416" y="2670048"/>
            <a:ext cx="493776" cy="493776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249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 &amp; Carrosséis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35624" y="2633472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36208" y="2670048"/>
            <a:ext cx="493776" cy="493776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72491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21424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 &amp; DMs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320040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20624" y="2670048"/>
            <a:ext cx="493776" cy="493776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249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&amp; Agenda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227832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328416" y="2670048"/>
            <a:ext cx="493776" cy="493776"/>
          </a:xfrm>
          <a:prstGeom prst="ellipse">
            <a:avLst/>
          </a:prstGeom>
          <a:solidFill>
            <a:srgbClr val="0077B5">
              <a:alpha val="18000"/>
            </a:srgbClr>
          </a:solidFill>
          <a:ln w="19050">
            <a:solidFill>
              <a:srgbClr val="0077B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72491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13632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Agendamento Auto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35624" y="3803904"/>
            <a:ext cx="2743200" cy="98755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36208" y="2670048"/>
            <a:ext cx="493776" cy="493776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724912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21424" y="3959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Métricas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235147" cy="256032"/>
          </a:xfrm>
          <a:prstGeom prst="roundRect">
            <a:avLst>
              <a:gd name="adj" fmla="val 14286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143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OTIMIZAÇÃO DE PERFIL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Headline, Resumo e Cargos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7.1 · Cada seção do perfil otimizada para ser encontrado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 HEADLINE PROFISSIONAL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0077B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5 opções de headline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5 headlines para LinkedIn de [NOME/CARGO].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Área: [ÁREA]. Competências: [LISTAR 3].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Diferencial: [O QUE TE TORNA ÚNICO].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Objetivo: [RECOLOCAÇÃO/AUTORIDADE/NEGÓCIOS].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Máx. 220 chars. Combine cargo + resultado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diferencial + palavras-chave.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SEÇÃO 'SOBRE' (RESUMO)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184708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que o prompt deve gerar: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1762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1ª frase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17627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faz e para quem (impacto)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6517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Trajetória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65176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linhas do caminho percorrido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1272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Conquistas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12724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Realizações com números quando possível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602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6027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trabalho e o que te move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40782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entrar em contato ou o que você busca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5537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455371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2600 caracteres · Tom: profissional + humano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607869" cy="256032"/>
          </a:xfrm>
          <a:prstGeom prst="roundRect">
            <a:avLst>
              <a:gd name="adj" fmla="val 14286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5164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TIPOS DE POST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 de Alto Impacto — 4 Formatos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· Storytelling · Posicionamento · Conquista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71907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de Autoridade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"Escreva post LinkedIn sobre [TEMA]. Gancho forte + 3 pontos com insight prático + caso real + pergunta para debate. 800–1200 chars."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417320"/>
            <a:ext cx="4206240" cy="171907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Storytelling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"Transforme: [SITUAÇÃO/DESAFIO]. Abertura no momento mais tenso → Contexto → Ação → Resultado + lição → Aplicação prática para quem lê."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4206240" cy="171907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91840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91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de opinião sobre [TENDÊNCIA]. Abertura polêmica → por que a maioria erra → meu argumento (2–3 pontos) → reconhecer perspectiva oposta → CTA para debate."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3291840"/>
            <a:ext cx="4206240" cy="1719072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291840"/>
            <a:ext cx="4206240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3291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Marco/Conquista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7033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"Compartilhe [CONQUISTA] de forma humana. Comece pelo esforço/aprendizado, não pela comemoração. Agradeça de forma específica. Termine com reflexão útil."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14370" cy="256032"/>
          </a:xfrm>
          <a:prstGeom prst="roundRect">
            <a:avLst>
              <a:gd name="adj" fmla="val 14286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322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NETWORKING &amp; MENSAGENS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Conexões e Follow-ups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que são aceitas · Sequência de 3 para gerar oportunidades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SOLICITAÇÃO DE CONEXÃO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0077B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mensagem de conexão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mensagem de conexão LinkedIn para [CARGO].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Contexto: [COMO CONHECE / POR QUE CONECTAR].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 em comum: [SETOR/CIDADE/INTERESSE].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Mencione algo específico do perfil deles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- 1 frase explicando motivo da conexão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363474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 pitch ou pedido agora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384962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Limite: 300 caracteres.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 SEQUÊNCIA DE 3 MENSAGENS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1874520"/>
            <a:ext cx="3904488" cy="841248"/>
          </a:xfrm>
          <a:prstGeom prst="roundRect">
            <a:avLst>
              <a:gd name="adj" fmla="val 6522"/>
            </a:avLst>
          </a:prstGeom>
          <a:solidFill>
            <a:srgbClr val="060D18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2024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MSG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Após aceitação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011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Agradecer + compartilhar algo relevante para eles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862072"/>
            <a:ext cx="3904488" cy="841248"/>
          </a:xfrm>
          <a:prstGeom prst="roundRect">
            <a:avLst>
              <a:gd name="adj" fmla="val 6522"/>
            </a:avLst>
          </a:prstGeom>
          <a:solidFill>
            <a:srgbClr val="060D18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0779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MSG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7–10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relação + curiosidade sobre o trabalho deles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849624"/>
            <a:ext cx="3904488" cy="841248"/>
          </a:xfrm>
          <a:prstGeom prst="roundRect">
            <a:avLst>
              <a:gd name="adj" fmla="val 6522"/>
            </a:avLst>
          </a:prstGeom>
          <a:solidFill>
            <a:srgbClr val="060D1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9534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MSG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9867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(reunião/call) de forma natural e não invasiva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593592" cy="256032"/>
          </a:xfrm>
          <a:prstGeom prst="roundRect">
            <a:avLst>
              <a:gd name="adj" fmla="val 14286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AGENDAMENTO &amp; CALENDÁRIO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Agendando Posts e Planejando o Mês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nativo · Buffer gratuito · Prompt de calendário completo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187452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AGENDAR PELO LINKEDIN NATIVO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post no LinkedIn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'Iniciar post'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74320" cy="274320"/>
          </a:xfrm>
          <a:prstGeom prst="ellipse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774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Ícone de relógio (⏰)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57860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canto inferior da janela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Escolha data e hora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automática no horário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4160520" cy="1481328"/>
          </a:xfrm>
          <a:prstGeom prst="rect">
            <a:avLst/>
          </a:prstGeom>
          <a:solidFill>
            <a:srgbClr val="172438"/>
          </a:solidFill>
          <a:ln w="12700">
            <a:solidFill>
              <a:srgbClr val="0077B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502152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BUFFER (GRÁTIS) — Para múltiplos posts: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3904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buffer.com → Conectar perfil LinkedIn → Criar posts em lote → Agendar pelo calendário visual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0077B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17320"/>
            <a:ext cx="4178808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91456" y="147218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43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09744" y="17190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Calendário Editorial LinkedIn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9744" y="193395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calendário 4 semanas para [CARGO/PERFIL].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214884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Objetivo: [AUTORIDADE/NETWORKING/NEGÓCIOS].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9744" y="2363724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Frequência: [N] posts/semana.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9744" y="2578608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post: dia, formato, tema específico,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9744" y="279349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gancho de abertura, objetivo do post.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9744" y="300837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Varie formatos: texto, carrossel, poll, artigo.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9744" y="322326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Organize em tabela.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145536" cy="256032"/>
          </a:xfrm>
          <a:prstGeom prst="roundRect">
            <a:avLst>
              <a:gd name="adj" fmla="val 14286"/>
            </a:avLst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— INSTAGRAM vs LINKEDIN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Usar em Cada Plataforma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conteúdo e ferramentas — lado a lado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520440"/>
        </p:xfrm>
        <a:graphic>
          <a:graphicData uri="http://schemas.openxmlformats.org/drawingml/2006/table">
            <a:tbl>
              <a:tblPr/>
              <a:tblGrid>
                <a:gridCol w="2011680"/>
                <a:gridCol w="3246120"/>
                <a:gridCol w="3246120"/>
              </a:tblGrid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Aspecto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Instagram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5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LinkedIn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5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Marca, venda B2C, engajamento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Autoridade, networking, B2B, carreira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que engaja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Visual, emocional, entretenimento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Educativo, cases, opinião,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Formatos principais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Reels, Carrossel, Stories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texto, Carrossel PDF, Poll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ideal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Leve, próximo, 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direto, com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 ideal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3–7× por semana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3–5× por semana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 para legenda + Meta BS para agendar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 para post + Buffer/nativo para agendar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permitida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ManyChat para DMs com palavra-chave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Agendamento de posts (nativo ou Buffer)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Insights → prompt de 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Analytics → prompt de estratégia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13584">
              <a:alpha val="10000"/>
            </a:srgbClr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0077B5">
              <a:alpha val="9000"/>
            </a:srgbClr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2743200"/>
            <a:ext cx="3200400" cy="3200400"/>
          </a:xfrm>
          <a:prstGeom prst="ellipse">
            <a:avLst/>
          </a:prstGeom>
          <a:solidFill>
            <a:srgbClr val="833AB4">
              <a:alpha val="8000"/>
            </a:srgbClr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Consistência supera perfeição.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Comece com 1 post. Depois 3. Depois o mês inteiro.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escreve. Você decide, publica e se relaciona.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" y="2688336"/>
            <a:ext cx="521208" cy="521208"/>
          </a:xfrm>
          <a:prstGeom prst="ellipse">
            <a:avLst/>
          </a:prstGeom>
          <a:solidFill>
            <a:srgbClr val="C13584">
              <a:alpha val="18000"/>
            </a:srgbClr>
          </a:solidFill>
          <a:ln w="19050">
            <a:solidFill>
              <a:srgbClr val="C1358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7432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35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78308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20824" y="2688336"/>
            <a:ext cx="521208" cy="521208"/>
          </a:xfrm>
          <a:prstGeom prst="ellipse">
            <a:avLst/>
          </a:prstGeom>
          <a:solidFill>
            <a:srgbClr val="0077B5">
              <a:alpha val="18000"/>
            </a:srgbClr>
          </a:solidFill>
          <a:ln w="19050">
            <a:solidFill>
              <a:srgbClr val="0077B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7432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78308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4612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83864" y="2688336"/>
            <a:ext cx="521208" cy="521208"/>
          </a:xfrm>
          <a:prstGeom prst="ellipse">
            <a:avLst/>
          </a:prstGeom>
          <a:solidFill>
            <a:srgbClr val="833AB4">
              <a:alpha val="18000"/>
            </a:srgbClr>
          </a:solidFill>
          <a:ln w="19050">
            <a:solidFill>
              <a:srgbClr val="833AB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7432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4612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A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Legendas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24612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46904" y="2688336"/>
            <a:ext cx="521208" cy="521208"/>
          </a:xfrm>
          <a:prstGeom prst="ellipse">
            <a:avLst/>
          </a:prstGeom>
          <a:solidFill>
            <a:srgbClr val="F77737">
              <a:alpha val="18000"/>
            </a:srgbClr>
          </a:solidFill>
          <a:ln w="19050">
            <a:solidFill>
              <a:srgbClr val="F7773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7432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916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7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Reels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70916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7220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09944" y="2688336"/>
            <a:ext cx="521208" cy="521208"/>
          </a:xfrm>
          <a:prstGeom prst="ellipse">
            <a:avLst/>
          </a:prstGeom>
          <a:solidFill>
            <a:srgbClr val="FCAF45">
              <a:alpha val="18000"/>
            </a:srgbClr>
          </a:solidFill>
          <a:ln w="19050">
            <a:solidFill>
              <a:srgbClr val="FCAF4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74320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7220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17220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635240" y="2606040"/>
            <a:ext cx="1353312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872984" y="2688336"/>
            <a:ext cx="521208" cy="521208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48" y="2743200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635240" y="32461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635240" y="3547872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LinkedIn com IA  ·  Guia Completo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2026-06-02T15:00:42Z</dcterms:created>
  <dcterms:modified xsi:type="dcterms:W3CDTF">2026-06-02T15:00:42Z</dcterms:modified>
</cp:coreProperties>
</file>